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70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0F271-0864-43E8-BF0E-F4633381695B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D84AF-E3E8-4FF8-818B-9BD0E0C7C6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29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D84AF-E3E8-4FF8-818B-9BD0E0C7C65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88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D84AF-E3E8-4FF8-818B-9BD0E0C7C65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829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3131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3131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3131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0">
                <a:solidFill>
                  <a:srgbClr val="3131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0750" y="426155"/>
            <a:ext cx="15437822" cy="17484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0">
                <a:solidFill>
                  <a:srgbClr val="31313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07532" y="1567367"/>
            <a:ext cx="7445375" cy="3401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3100" y="3632200"/>
            <a:ext cx="8547100" cy="5080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9900" y="6489700"/>
            <a:ext cx="1219200" cy="457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93400" y="6489700"/>
            <a:ext cx="939800" cy="469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9900" y="5918200"/>
            <a:ext cx="2171700" cy="444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59900" y="5308600"/>
            <a:ext cx="1727200" cy="469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607800" y="5334000"/>
            <a:ext cx="990600" cy="4445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411200" y="5867400"/>
            <a:ext cx="673100" cy="6731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423900" y="3975100"/>
            <a:ext cx="647700" cy="6604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423900" y="2019300"/>
            <a:ext cx="647700" cy="66040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3106400" y="469900"/>
            <a:ext cx="0" cy="8813800"/>
          </a:xfrm>
          <a:custGeom>
            <a:avLst/>
            <a:gdLst/>
            <a:ahLst/>
            <a:cxnLst/>
            <a:rect l="l" t="t" r="r" b="b"/>
            <a:pathLst>
              <a:path h="8813800">
                <a:moveTo>
                  <a:pt x="0" y="8813800"/>
                </a:moveTo>
                <a:lnTo>
                  <a:pt x="0" y="0"/>
                </a:lnTo>
              </a:path>
            </a:pathLst>
          </a:custGeom>
          <a:ln w="25400">
            <a:solidFill>
              <a:srgbClr val="49494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645900" y="6045200"/>
            <a:ext cx="520700" cy="3175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411200" y="7886700"/>
            <a:ext cx="673100" cy="4826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4095" y="450849"/>
            <a:ext cx="11651615" cy="232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345" dirty="0">
                <a:latin typeface="Calibri"/>
                <a:cs typeface="Calibri"/>
              </a:rPr>
              <a:t>Al-</a:t>
            </a:r>
            <a:r>
              <a:rPr sz="5000" spc="484" dirty="0">
                <a:latin typeface="Calibri"/>
                <a:cs typeface="Calibri"/>
              </a:rPr>
              <a:t>Powered</a:t>
            </a:r>
            <a:r>
              <a:rPr sz="5000" spc="155" dirty="0">
                <a:latin typeface="Calibri"/>
                <a:cs typeface="Calibri"/>
              </a:rPr>
              <a:t> </a:t>
            </a:r>
            <a:r>
              <a:rPr sz="5000" spc="375" dirty="0">
                <a:latin typeface="Calibri"/>
                <a:cs typeface="Calibri"/>
              </a:rPr>
              <a:t>Hybrid</a:t>
            </a:r>
            <a:r>
              <a:rPr sz="5000" spc="260" dirty="0">
                <a:latin typeface="Calibri"/>
                <a:cs typeface="Calibri"/>
              </a:rPr>
              <a:t> </a:t>
            </a:r>
            <a:r>
              <a:rPr sz="5000" spc="285" dirty="0">
                <a:latin typeface="Calibri"/>
                <a:cs typeface="Calibri"/>
              </a:rPr>
              <a:t>Translation</a:t>
            </a:r>
            <a:r>
              <a:rPr sz="5000" spc="170" dirty="0">
                <a:latin typeface="Calibri"/>
                <a:cs typeface="Calibri"/>
              </a:rPr>
              <a:t> </a:t>
            </a:r>
            <a:r>
              <a:rPr sz="5000" spc="425" dirty="0">
                <a:latin typeface="Calibri"/>
                <a:cs typeface="Calibri"/>
              </a:rPr>
              <a:t>System</a:t>
            </a:r>
            <a:endParaRPr sz="5000">
              <a:latin typeface="Calibri"/>
              <a:cs typeface="Calibri"/>
            </a:endParaRPr>
          </a:p>
          <a:p>
            <a:pPr marL="42545" marR="1268730" indent="-14604">
              <a:lnSpc>
                <a:spcPts val="4050"/>
              </a:lnSpc>
              <a:spcBef>
                <a:spcPts val="560"/>
              </a:spcBef>
            </a:pPr>
            <a:r>
              <a:rPr sz="3750" dirty="0">
                <a:latin typeface="Times New Roman"/>
                <a:cs typeface="Times New Roman"/>
              </a:rPr>
              <a:t>Bridging</a:t>
            </a:r>
            <a:r>
              <a:rPr sz="3750" spc="-35" dirty="0">
                <a:latin typeface="Times New Roman"/>
                <a:cs typeface="Times New Roman"/>
              </a:rPr>
              <a:t> </a:t>
            </a:r>
            <a:r>
              <a:rPr sz="3750" spc="114" dirty="0">
                <a:latin typeface="Times New Roman"/>
                <a:cs typeface="Times New Roman"/>
              </a:rPr>
              <a:t>the</a:t>
            </a:r>
            <a:r>
              <a:rPr sz="3750" spc="-5" dirty="0">
                <a:latin typeface="Times New Roman"/>
                <a:cs typeface="Times New Roman"/>
              </a:rPr>
              <a:t> </a:t>
            </a:r>
            <a:r>
              <a:rPr sz="3750" spc="-30" dirty="0">
                <a:latin typeface="Times New Roman"/>
                <a:cs typeface="Times New Roman"/>
              </a:rPr>
              <a:t>English-</a:t>
            </a:r>
            <a:r>
              <a:rPr sz="3750" dirty="0">
                <a:latin typeface="Times New Roman"/>
                <a:cs typeface="Times New Roman"/>
              </a:rPr>
              <a:t>Hindi</a:t>
            </a:r>
            <a:r>
              <a:rPr sz="3750" spc="350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Linguistic</a:t>
            </a:r>
            <a:r>
              <a:rPr sz="3750" spc="175" dirty="0">
                <a:latin typeface="Times New Roman"/>
                <a:cs typeface="Times New Roman"/>
              </a:rPr>
              <a:t> </a:t>
            </a:r>
            <a:r>
              <a:rPr sz="3750" spc="-114" dirty="0">
                <a:latin typeface="Times New Roman"/>
                <a:cs typeface="Times New Roman"/>
              </a:rPr>
              <a:t>Gap</a:t>
            </a:r>
            <a:r>
              <a:rPr sz="3750" spc="-125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via</a:t>
            </a:r>
            <a:r>
              <a:rPr sz="3750" spc="-120" dirty="0">
                <a:latin typeface="Times New Roman"/>
                <a:cs typeface="Times New Roman"/>
              </a:rPr>
              <a:t> </a:t>
            </a:r>
            <a:r>
              <a:rPr sz="3750" spc="-90" dirty="0">
                <a:latin typeface="Times New Roman"/>
                <a:cs typeface="Times New Roman"/>
              </a:rPr>
              <a:t>T5</a:t>
            </a:r>
            <a:r>
              <a:rPr sz="3750" spc="-145" dirty="0">
                <a:latin typeface="Times New Roman"/>
                <a:cs typeface="Times New Roman"/>
              </a:rPr>
              <a:t> </a:t>
            </a:r>
            <a:r>
              <a:rPr sz="3750" spc="80" dirty="0">
                <a:latin typeface="Times New Roman"/>
                <a:cs typeface="Times New Roman"/>
              </a:rPr>
              <a:t>and </a:t>
            </a:r>
            <a:r>
              <a:rPr sz="3750" spc="-350" dirty="0">
                <a:latin typeface="Times New Roman"/>
                <a:cs typeface="Times New Roman"/>
              </a:rPr>
              <a:t>NLLB</a:t>
            </a:r>
            <a:r>
              <a:rPr sz="3750" spc="-20" dirty="0">
                <a:latin typeface="Times New Roman"/>
                <a:cs typeface="Times New Roman"/>
              </a:rPr>
              <a:t> </a:t>
            </a:r>
            <a:r>
              <a:rPr sz="3750" spc="-10" dirty="0">
                <a:latin typeface="Times New Roman"/>
                <a:cs typeface="Times New Roman"/>
              </a:rPr>
              <a:t>Architectures</a:t>
            </a:r>
            <a:endParaRPr sz="37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1190"/>
              </a:spcBef>
            </a:pPr>
            <a:r>
              <a:rPr sz="1850" dirty="0">
                <a:latin typeface="Consolas"/>
                <a:cs typeface="Consolas"/>
              </a:rPr>
              <a:t>Vijay</a:t>
            </a:r>
            <a:r>
              <a:rPr sz="1850" spc="-110" dirty="0">
                <a:latin typeface="Consolas"/>
                <a:cs typeface="Consolas"/>
              </a:rPr>
              <a:t> </a:t>
            </a:r>
            <a:r>
              <a:rPr sz="1850" spc="-345" dirty="0">
                <a:latin typeface="Consolas"/>
                <a:cs typeface="Consolas"/>
              </a:rPr>
              <a:t>|</a:t>
            </a:r>
            <a:r>
              <a:rPr sz="1850" spc="130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Project</a:t>
            </a:r>
            <a:r>
              <a:rPr sz="1850" spc="-25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Report</a:t>
            </a:r>
            <a:r>
              <a:rPr sz="1850" spc="-130" dirty="0">
                <a:latin typeface="Consolas"/>
                <a:cs typeface="Consolas"/>
              </a:rPr>
              <a:t> </a:t>
            </a:r>
            <a:r>
              <a:rPr sz="1850" spc="-345" dirty="0">
                <a:latin typeface="Consolas"/>
                <a:cs typeface="Consolas"/>
              </a:rPr>
              <a:t>|</a:t>
            </a:r>
            <a:r>
              <a:rPr sz="1850" spc="90" dirty="0">
                <a:latin typeface="Consolas"/>
                <a:cs typeface="Consolas"/>
              </a:rPr>
              <a:t> </a:t>
            </a:r>
            <a:r>
              <a:rPr sz="1850" dirty="0">
                <a:latin typeface="Consolas"/>
                <a:cs typeface="Consolas"/>
              </a:rPr>
              <a:t>January</a:t>
            </a:r>
            <a:r>
              <a:rPr sz="1850" spc="-114" dirty="0">
                <a:latin typeface="Consolas"/>
                <a:cs typeface="Consolas"/>
              </a:rPr>
              <a:t> </a:t>
            </a:r>
            <a:r>
              <a:rPr sz="1850" spc="-20" dirty="0">
                <a:latin typeface="Consolas"/>
                <a:cs typeface="Consolas"/>
              </a:rPr>
              <a:t>2026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3510273" y="361949"/>
            <a:ext cx="344487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940" dirty="0">
                <a:solidFill>
                  <a:srgbClr val="000000"/>
                </a:solidFill>
                <a:latin typeface="Calibri"/>
                <a:cs typeface="Calibri"/>
              </a:rPr>
              <a:t>RO3ECTATAGLANCE</a:t>
            </a:r>
            <a:endParaRPr sz="450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64846" y="5204177"/>
            <a:ext cx="403225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55" dirty="0">
                <a:solidFill>
                  <a:srgbClr val="363636"/>
                </a:solidFill>
                <a:latin typeface="Cambria"/>
                <a:cs typeface="Cambria"/>
              </a:rPr>
              <a:t>NIP</a:t>
            </a:r>
            <a:r>
              <a:rPr sz="950" spc="-80" dirty="0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950" spc="-170" dirty="0">
                <a:solidFill>
                  <a:srgbClr val="343434"/>
                </a:solidFill>
                <a:latin typeface="Cambria"/>
                <a:cs typeface="Cambria"/>
              </a:rPr>
              <a:t>U</a:t>
            </a:r>
            <a:r>
              <a:rPr sz="950" spc="-45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950" spc="-50" dirty="0">
                <a:solidFill>
                  <a:srgbClr val="727272"/>
                </a:solidFill>
                <a:latin typeface="Cambria"/>
                <a:cs typeface="Cambria"/>
              </a:rPr>
              <a:t>T</a:t>
            </a:r>
            <a:endParaRPr sz="9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5339" y="4761441"/>
            <a:ext cx="2912110" cy="266065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5080" indent="635">
              <a:lnSpc>
                <a:spcPts val="4000"/>
              </a:lnSpc>
              <a:spcBef>
                <a:spcPts val="855"/>
              </a:spcBef>
            </a:pPr>
            <a:r>
              <a:rPr sz="3950" spc="70" dirty="0">
                <a:solidFill>
                  <a:srgbClr val="282828"/>
                </a:solidFill>
                <a:latin typeface="Times New Roman"/>
                <a:cs typeface="Times New Roman"/>
              </a:rPr>
              <a:t>Students </a:t>
            </a:r>
            <a:r>
              <a:rPr sz="3950" spc="95" dirty="0">
                <a:solidFill>
                  <a:srgbClr val="282828"/>
                </a:solidFill>
                <a:latin typeface="Times New Roman"/>
                <a:cs typeface="Times New Roman"/>
              </a:rPr>
              <a:t>demonstrated </a:t>
            </a:r>
            <a:r>
              <a:rPr sz="3850" spc="-10" dirty="0">
                <a:solidFill>
                  <a:srgbClr val="2A2A2A"/>
                </a:solidFill>
                <a:latin typeface="Cambria"/>
                <a:cs typeface="Cambria"/>
              </a:rPr>
              <a:t>their </a:t>
            </a:r>
            <a:r>
              <a:rPr sz="3800" spc="-10" dirty="0">
                <a:solidFill>
                  <a:srgbClr val="262626"/>
                </a:solidFill>
                <a:latin typeface="Cambria"/>
                <a:cs typeface="Cambria"/>
              </a:rPr>
              <a:t>imagination </a:t>
            </a:r>
            <a:r>
              <a:rPr sz="3950" spc="-10" dirty="0">
                <a:solidFill>
                  <a:srgbClr val="282828"/>
                </a:solidFill>
                <a:latin typeface="Cambria"/>
                <a:cs typeface="Cambria"/>
              </a:rPr>
              <a:t>power.</a:t>
            </a:r>
            <a:endParaRPr sz="39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402439" y="5224638"/>
            <a:ext cx="546735" cy="33464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7940" marR="5080" indent="-15875">
              <a:lnSpc>
                <a:spcPts val="1100"/>
              </a:lnSpc>
              <a:spcBef>
                <a:spcPts val="330"/>
              </a:spcBef>
            </a:pPr>
            <a:r>
              <a:rPr sz="1100" spc="-55" dirty="0">
                <a:solidFill>
                  <a:srgbClr val="2F2F2F"/>
                </a:solidFill>
                <a:latin typeface="Times New Roman"/>
                <a:cs typeface="Times New Roman"/>
              </a:rPr>
              <a:t>OUTPUT </a:t>
            </a:r>
            <a:r>
              <a:rPr sz="1100" spc="-190" dirty="0">
                <a:solidFill>
                  <a:srgbClr val="333333"/>
                </a:solidFill>
                <a:latin typeface="Times New Roman"/>
                <a:cs typeface="Times New Roman"/>
              </a:rPr>
              <a:t>DECODER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27194" y="6566958"/>
            <a:ext cx="793115" cy="3238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100"/>
              </a:lnSpc>
              <a:spcBef>
                <a:spcPts val="260"/>
              </a:spcBef>
            </a:pPr>
            <a:r>
              <a:rPr sz="1050" spc="-204" dirty="0">
                <a:solidFill>
                  <a:srgbClr val="363636"/>
                </a:solidFill>
                <a:latin typeface="Times New Roman"/>
                <a:cs typeface="Times New Roman"/>
              </a:rPr>
              <a:t>TRAIN</a:t>
            </a:r>
            <a:r>
              <a:rPr sz="1050" spc="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050" spc="-130" dirty="0">
                <a:solidFill>
                  <a:srgbClr val="363636"/>
                </a:solidFill>
                <a:latin typeface="Times New Roman"/>
                <a:cs typeface="Times New Roman"/>
              </a:rPr>
              <a:t>BLATE</a:t>
            </a:r>
            <a:r>
              <a:rPr sz="1050" spc="-20" dirty="0">
                <a:solidFill>
                  <a:srgbClr val="363636"/>
                </a:solidFill>
                <a:latin typeface="Times New Roman"/>
                <a:cs typeface="Times New Roman"/>
              </a:rPr>
              <a:t> </a:t>
            </a:r>
            <a:r>
              <a:rPr sz="1050" spc="-204" dirty="0">
                <a:solidFill>
                  <a:srgbClr val="646464"/>
                </a:solidFill>
                <a:latin typeface="Times New Roman"/>
                <a:cs typeface="Times New Roman"/>
              </a:rPr>
              <a:t>D</a:t>
            </a:r>
            <a:r>
              <a:rPr sz="1050" spc="500" dirty="0">
                <a:solidFill>
                  <a:srgbClr val="646464"/>
                </a:solidFill>
                <a:latin typeface="Times New Roman"/>
                <a:cs typeface="Times New Roman"/>
              </a:rPr>
              <a:t> </a:t>
            </a:r>
            <a:r>
              <a:rPr sz="1050" spc="-114" dirty="0">
                <a:solidFill>
                  <a:srgbClr val="7E7E7E"/>
                </a:solidFill>
                <a:latin typeface="Times New Roman"/>
                <a:cs typeface="Times New Roman"/>
              </a:rPr>
              <a:t>T</a:t>
            </a:r>
            <a:r>
              <a:rPr sz="1050" spc="-85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050" spc="-25" dirty="0">
                <a:solidFill>
                  <a:srgbClr val="363636"/>
                </a:solidFill>
                <a:latin typeface="Times New Roman"/>
                <a:cs typeface="Times New Roman"/>
              </a:rPr>
              <a:t>ENT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51343" y="1477433"/>
            <a:ext cx="3033395" cy="16510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1305" marR="5080" indent="-269240">
              <a:lnSpc>
                <a:spcPts val="3100"/>
              </a:lnSpc>
              <a:spcBef>
                <a:spcPts val="535"/>
              </a:spcBef>
              <a:buChar char="•"/>
              <a:tabLst>
                <a:tab pos="281305" algn="l"/>
                <a:tab pos="286385" algn="l"/>
              </a:tabLst>
            </a:pP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-100" dirty="0">
                <a:latin typeface="Times New Roman"/>
                <a:cs typeface="Times New Roman"/>
              </a:rPr>
              <a:t>Objective:</a:t>
            </a:r>
            <a:r>
              <a:rPr sz="2900" spc="-30" dirty="0">
                <a:latin typeface="Times New Roman"/>
                <a:cs typeface="Times New Roman"/>
              </a:rPr>
              <a:t> </a:t>
            </a:r>
            <a:r>
              <a:rPr sz="2900" spc="-10" dirty="0">
                <a:latin typeface="Times New Roman"/>
                <a:cs typeface="Times New Roman"/>
              </a:rPr>
              <a:t>Zero- </a:t>
            </a:r>
            <a:r>
              <a:rPr sz="2900" spc="-20" dirty="0">
                <a:latin typeface="Times New Roman"/>
                <a:cs typeface="Times New Roman"/>
              </a:rPr>
              <a:t>shot</a:t>
            </a:r>
            <a:r>
              <a:rPr sz="2900" spc="-150" dirty="0">
                <a:latin typeface="Times New Roman"/>
                <a:cs typeface="Times New Roman"/>
              </a:rPr>
              <a:t> </a:t>
            </a:r>
            <a:r>
              <a:rPr sz="2900" spc="-220" dirty="0">
                <a:latin typeface="Times New Roman"/>
                <a:cs typeface="Times New Roman"/>
              </a:rPr>
              <a:t>English</a:t>
            </a:r>
            <a:r>
              <a:rPr sz="2900" spc="40" dirty="0">
                <a:latin typeface="Times New Roman"/>
                <a:cs typeface="Times New Roman"/>
              </a:rPr>
              <a:t> </a:t>
            </a:r>
            <a:r>
              <a:rPr sz="2900" dirty="0">
                <a:latin typeface="Times New Roman"/>
                <a:cs typeface="Times New Roman"/>
              </a:rPr>
              <a:t>to</a:t>
            </a:r>
            <a:r>
              <a:rPr sz="2900" spc="-100" dirty="0">
                <a:latin typeface="Times New Roman"/>
                <a:cs typeface="Times New Roman"/>
              </a:rPr>
              <a:t> </a:t>
            </a:r>
            <a:r>
              <a:rPr sz="2900" spc="-310" dirty="0">
                <a:latin typeface="Times New Roman"/>
                <a:cs typeface="Times New Roman"/>
              </a:rPr>
              <a:t>Hindi </a:t>
            </a:r>
            <a:r>
              <a:rPr sz="2900" spc="-114" dirty="0">
                <a:latin typeface="Times New Roman"/>
                <a:cs typeface="Times New Roman"/>
              </a:rPr>
              <a:t>(Devanagari) </a:t>
            </a:r>
            <a:r>
              <a:rPr sz="2900" spc="-20" dirty="0">
                <a:latin typeface="Times New Roman"/>
                <a:cs typeface="Times New Roman"/>
              </a:rPr>
              <a:t>translation.</a:t>
            </a:r>
            <a:endParaRPr sz="29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052308" y="3419122"/>
            <a:ext cx="2393950" cy="16363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76225" marR="5080" indent="-264160">
              <a:lnSpc>
                <a:spcPct val="93900"/>
              </a:lnSpc>
              <a:spcBef>
                <a:spcPts val="330"/>
              </a:spcBef>
              <a:buChar char="•"/>
              <a:tabLst>
                <a:tab pos="276225" algn="l"/>
                <a:tab pos="287655" algn="l"/>
              </a:tabLst>
            </a:pPr>
            <a:r>
              <a:rPr sz="2750" dirty="0">
                <a:latin typeface="Times New Roman"/>
                <a:cs typeface="Times New Roman"/>
              </a:rPr>
              <a:t>	</a:t>
            </a:r>
            <a:r>
              <a:rPr sz="2750" spc="-125" dirty="0">
                <a:latin typeface="Times New Roman"/>
                <a:cs typeface="Times New Roman"/>
              </a:rPr>
              <a:t>Tech</a:t>
            </a:r>
            <a:r>
              <a:rPr sz="2750" spc="-2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Times New Roman"/>
                <a:cs typeface="Times New Roman"/>
              </a:rPr>
              <a:t>Stack: </a:t>
            </a:r>
            <a:r>
              <a:rPr sz="2700" spc="-35" dirty="0">
                <a:latin typeface="Times New Roman"/>
                <a:cs typeface="Times New Roman"/>
              </a:rPr>
              <a:t>PyTorch, </a:t>
            </a:r>
            <a:r>
              <a:rPr sz="2850" spc="-114" dirty="0">
                <a:latin typeface="Times New Roman"/>
                <a:cs typeface="Times New Roman"/>
              </a:rPr>
              <a:t>HuggingFace, </a:t>
            </a:r>
            <a:r>
              <a:rPr sz="2750" spc="-10" dirty="0">
                <a:latin typeface="Times New Roman"/>
                <a:cs typeface="Times New Roman"/>
              </a:rPr>
              <a:t>SentencePiece.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051343" y="5325533"/>
            <a:ext cx="2887980" cy="16510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85750" marR="5080" indent="-273685">
              <a:lnSpc>
                <a:spcPts val="3100"/>
              </a:lnSpc>
              <a:spcBef>
                <a:spcPts val="535"/>
              </a:spcBef>
              <a:buChar char="•"/>
              <a:tabLst>
                <a:tab pos="285750" algn="l"/>
                <a:tab pos="296545" algn="l"/>
                <a:tab pos="1264285" algn="l"/>
                <a:tab pos="1791335" algn="l"/>
              </a:tabLst>
            </a:pP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-10" dirty="0">
                <a:latin typeface="Times New Roman"/>
                <a:cs typeface="Times New Roman"/>
              </a:rPr>
              <a:t>Architecture: </a:t>
            </a:r>
            <a:r>
              <a:rPr sz="2900" spc="-285" dirty="0">
                <a:latin typeface="Times New Roman"/>
                <a:cs typeface="Times New Roman"/>
              </a:rPr>
              <a:t>Hybrid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-160" dirty="0">
                <a:latin typeface="Times New Roman"/>
                <a:cs typeface="Times New Roman"/>
              </a:rPr>
              <a:t>Pipeline</a:t>
            </a:r>
            <a:r>
              <a:rPr sz="2900" spc="10" dirty="0">
                <a:latin typeface="Times New Roman"/>
                <a:cs typeface="Times New Roman"/>
              </a:rPr>
              <a:t> </a:t>
            </a:r>
            <a:r>
              <a:rPr sz="2900" spc="-170" dirty="0">
                <a:latin typeface="Times New Roman"/>
                <a:cs typeface="Times New Roman"/>
              </a:rPr>
              <a:t>(T5 </a:t>
            </a:r>
            <a:r>
              <a:rPr sz="2900" spc="-65" dirty="0">
                <a:latin typeface="Times New Roman"/>
                <a:cs typeface="Times New Roman"/>
              </a:rPr>
              <a:t>Correction</a:t>
            </a: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-495" dirty="0">
                <a:latin typeface="Times New Roman"/>
                <a:cs typeface="Times New Roman"/>
              </a:rPr>
              <a:t>+</a:t>
            </a:r>
            <a:r>
              <a:rPr sz="2900" spc="210" dirty="0">
                <a:latin typeface="Times New Roman"/>
                <a:cs typeface="Times New Roman"/>
              </a:rPr>
              <a:t> </a:t>
            </a:r>
            <a:r>
              <a:rPr sz="2900" spc="-615" dirty="0">
                <a:latin typeface="Times New Roman"/>
                <a:cs typeface="Times New Roman"/>
              </a:rPr>
              <a:t>NLLB</a:t>
            </a:r>
            <a:r>
              <a:rPr sz="2900" spc="-75" dirty="0">
                <a:latin typeface="Times New Roman"/>
                <a:cs typeface="Times New Roman"/>
              </a:rPr>
              <a:t> Translation).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51343" y="7255933"/>
            <a:ext cx="2894330" cy="164782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76860" marR="5080" indent="-264795">
              <a:lnSpc>
                <a:spcPts val="3100"/>
              </a:lnSpc>
              <a:spcBef>
                <a:spcPts val="535"/>
              </a:spcBef>
              <a:buChar char="•"/>
              <a:tabLst>
                <a:tab pos="276860" algn="l"/>
                <a:tab pos="306070" algn="l"/>
              </a:tabLst>
            </a:pPr>
            <a:r>
              <a:rPr sz="2900" dirty="0">
                <a:latin typeface="Times New Roman"/>
                <a:cs typeface="Times New Roman"/>
              </a:rPr>
              <a:t>	</a:t>
            </a:r>
            <a:r>
              <a:rPr sz="2900" spc="-340" dirty="0">
                <a:latin typeface="Times New Roman"/>
                <a:cs typeface="Times New Roman"/>
              </a:rPr>
              <a:t>Key</a:t>
            </a:r>
            <a:r>
              <a:rPr sz="2900" spc="140" dirty="0">
                <a:latin typeface="Times New Roman"/>
                <a:cs typeface="Times New Roman"/>
              </a:rPr>
              <a:t> </a:t>
            </a:r>
            <a:r>
              <a:rPr sz="2900" spc="-100" dirty="0">
                <a:latin typeface="Times New Roman"/>
                <a:cs typeface="Times New Roman"/>
              </a:rPr>
              <a:t>Result:</a:t>
            </a:r>
            <a:r>
              <a:rPr sz="2900" spc="-60" dirty="0">
                <a:latin typeface="Times New Roman"/>
                <a:cs typeface="Times New Roman"/>
              </a:rPr>
              <a:t> </a:t>
            </a:r>
            <a:r>
              <a:rPr sz="2900" spc="-204" dirty="0">
                <a:latin typeface="Times New Roman"/>
                <a:cs typeface="Times New Roman"/>
              </a:rPr>
              <a:t>chrF++ </a:t>
            </a:r>
            <a:r>
              <a:rPr sz="2850" spc="-95" dirty="0">
                <a:latin typeface="Times New Roman"/>
                <a:cs typeface="Times New Roman"/>
              </a:rPr>
              <a:t>Score:</a:t>
            </a:r>
            <a:r>
              <a:rPr sz="2850" spc="-85" dirty="0">
                <a:latin typeface="Times New Roman"/>
                <a:cs typeface="Times New Roman"/>
              </a:rPr>
              <a:t> </a:t>
            </a:r>
            <a:r>
              <a:rPr sz="2850" spc="-25" dirty="0">
                <a:latin typeface="Times New Roman"/>
                <a:cs typeface="Times New Roman"/>
              </a:rPr>
              <a:t>47.43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280" dirty="0">
                <a:latin typeface="Times New Roman"/>
                <a:cs typeface="Times New Roman"/>
              </a:rPr>
              <a:t>(High </a:t>
            </a:r>
            <a:r>
              <a:rPr sz="2850" spc="-90" dirty="0">
                <a:latin typeface="Times New Roman"/>
                <a:cs typeface="Times New Roman"/>
              </a:rPr>
              <a:t>morphological </a:t>
            </a:r>
            <a:r>
              <a:rPr sz="2750" spc="-35" dirty="0">
                <a:latin typeface="Times New Roman"/>
                <a:cs typeface="Times New Roman"/>
              </a:rPr>
              <a:t>Accuracy).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2700" y="1816100"/>
            <a:ext cx="4978400" cy="4254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" y="6553200"/>
            <a:ext cx="16179800" cy="2590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700" spc="-3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5700" spc="-3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700" spc="-70" dirty="0">
                <a:solidFill>
                  <a:srgbClr val="2B2B2B"/>
                </a:solidFill>
                <a:latin typeface="Arial MT"/>
                <a:cs typeface="Arial MT"/>
              </a:rPr>
              <a:t>Challenge:</a:t>
            </a:r>
            <a:r>
              <a:rPr sz="5700" spc="-31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5700" spc="-10" dirty="0">
                <a:solidFill>
                  <a:srgbClr val="2D2D2D"/>
                </a:solidFill>
                <a:latin typeface="Arial MT"/>
                <a:cs typeface="Arial MT"/>
              </a:rPr>
              <a:t>India's</a:t>
            </a:r>
            <a:r>
              <a:rPr sz="5700" spc="-29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5700" dirty="0">
                <a:solidFill>
                  <a:srgbClr val="2B2B2B"/>
                </a:solidFill>
                <a:latin typeface="Arial MT"/>
                <a:cs typeface="Arial MT"/>
              </a:rPr>
              <a:t>Digital</a:t>
            </a:r>
            <a:r>
              <a:rPr sz="5700" spc="-29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5700" spc="-10" dirty="0">
                <a:solidFill>
                  <a:srgbClr val="2A2A2A"/>
                </a:solidFill>
                <a:latin typeface="Arial MT"/>
                <a:cs typeface="Arial MT"/>
              </a:rPr>
              <a:t>Divide</a:t>
            </a:r>
            <a:endParaRPr sz="5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29735" y="2275769"/>
            <a:ext cx="344551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onsolas"/>
                <a:cs typeface="Consolas"/>
              </a:rPr>
              <a:t>The</a:t>
            </a:r>
            <a:r>
              <a:rPr sz="2400" spc="-254" dirty="0">
                <a:latin typeface="Consolas"/>
                <a:cs typeface="Consolas"/>
              </a:rPr>
              <a:t> </a:t>
            </a:r>
            <a:r>
              <a:rPr sz="2400" spc="-50" dirty="0">
                <a:latin typeface="Consolas"/>
                <a:cs typeface="Consolas"/>
              </a:rPr>
              <a:t>Accessibility</a:t>
            </a:r>
            <a:r>
              <a:rPr sz="2400" spc="-30" dirty="0">
                <a:latin typeface="Consolas"/>
                <a:cs typeface="Consolas"/>
              </a:rPr>
              <a:t> </a:t>
            </a:r>
            <a:r>
              <a:rPr sz="2400" spc="-25" dirty="0">
                <a:latin typeface="Consolas"/>
                <a:cs typeface="Consolas"/>
              </a:rPr>
              <a:t>Gap</a:t>
            </a:r>
            <a:endParaRPr sz="2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100" y="4648200"/>
            <a:ext cx="15646400" cy="1206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52327" y="911577"/>
            <a:ext cx="14323694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dirty="0">
                <a:solidFill>
                  <a:srgbClr val="383838"/>
                </a:solidFill>
                <a:latin typeface="Arial MT"/>
                <a:cs typeface="Arial MT"/>
              </a:rPr>
              <a:t>Data</a:t>
            </a:r>
            <a:r>
              <a:rPr sz="4700" spc="-7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4700" spc="105" dirty="0">
                <a:solidFill>
                  <a:srgbClr val="363636"/>
                </a:solidFill>
                <a:latin typeface="Arial MT"/>
                <a:cs typeface="Arial MT"/>
              </a:rPr>
              <a:t>Engineering:</a:t>
            </a:r>
            <a:r>
              <a:rPr sz="4700" spc="-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4700" spc="75" dirty="0">
                <a:solidFill>
                  <a:srgbClr val="363636"/>
                </a:solidFill>
                <a:latin typeface="Arial MT"/>
                <a:cs typeface="Arial MT"/>
              </a:rPr>
              <a:t>The</a:t>
            </a:r>
            <a:r>
              <a:rPr sz="4700" spc="-30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4700" dirty="0">
                <a:solidFill>
                  <a:srgbClr val="3B3B3B"/>
                </a:solidFill>
                <a:latin typeface="Arial MT"/>
                <a:cs typeface="Arial MT"/>
              </a:rPr>
              <a:t>IITB</a:t>
            </a:r>
            <a:r>
              <a:rPr sz="4700" spc="-229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4700" spc="125" dirty="0">
                <a:solidFill>
                  <a:srgbClr val="363636"/>
                </a:solidFill>
                <a:latin typeface="Arial MT"/>
                <a:cs typeface="Arial MT"/>
              </a:rPr>
              <a:t>Corpus</a:t>
            </a:r>
            <a:r>
              <a:rPr sz="4700" spc="-4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4700" dirty="0">
                <a:solidFill>
                  <a:srgbClr val="3B3B3B"/>
                </a:solidFill>
                <a:latin typeface="Arial MT"/>
                <a:cs typeface="Arial MT"/>
              </a:rPr>
              <a:t>&amp;</a:t>
            </a:r>
            <a:r>
              <a:rPr sz="4700" spc="-21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4700" spc="100" dirty="0">
                <a:solidFill>
                  <a:srgbClr val="343434"/>
                </a:solidFill>
                <a:latin typeface="Arial MT"/>
                <a:cs typeface="Arial MT"/>
              </a:rPr>
              <a:t>Preprocessing</a:t>
            </a:r>
            <a:endParaRPr sz="47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8866" y="2069394"/>
            <a:ext cx="12609195" cy="1369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529"/>
              </a:lnSpc>
              <a:spcBef>
                <a:spcPts val="105"/>
              </a:spcBef>
            </a:pPr>
            <a:r>
              <a:rPr sz="3050" spc="60" dirty="0">
                <a:latin typeface="Times New Roman"/>
                <a:cs typeface="Times New Roman"/>
              </a:rPr>
              <a:t>Dataset</a:t>
            </a:r>
            <a:r>
              <a:rPr sz="3050" spc="-105" dirty="0">
                <a:latin typeface="Times New Roman"/>
                <a:cs typeface="Times New Roman"/>
              </a:rPr>
              <a:t> </a:t>
            </a:r>
            <a:r>
              <a:rPr sz="3050" spc="55" dirty="0">
                <a:latin typeface="Times New Roman"/>
                <a:cs typeface="Times New Roman"/>
              </a:rPr>
              <a:t>Specs</a:t>
            </a:r>
            <a:endParaRPr sz="3050">
              <a:latin typeface="Times New Roman"/>
              <a:cs typeface="Times New Roman"/>
            </a:endParaRPr>
          </a:p>
          <a:p>
            <a:pPr marL="772160" indent="-579120">
              <a:lnSpc>
                <a:spcPts val="3454"/>
              </a:lnSpc>
              <a:buClr>
                <a:srgbClr val="383838"/>
              </a:buClr>
              <a:buChar char="•"/>
              <a:tabLst>
                <a:tab pos="772160" algn="l"/>
              </a:tabLst>
            </a:pPr>
            <a:r>
              <a:rPr sz="3100" dirty="0">
                <a:latin typeface="Cambria"/>
                <a:cs typeface="Cambria"/>
              </a:rPr>
              <a:t>Source</a:t>
            </a:r>
            <a:r>
              <a:rPr sz="3100" spc="-185" dirty="0">
                <a:latin typeface="Cambria"/>
                <a:cs typeface="Cambria"/>
              </a:rPr>
              <a:t> </a:t>
            </a:r>
            <a:r>
              <a:rPr sz="3100" spc="-25" dirty="0">
                <a:latin typeface="Cambria"/>
                <a:cs typeface="Cambria"/>
              </a:rPr>
              <a:t>Dataset:</a:t>
            </a:r>
            <a:r>
              <a:rPr sz="3100" spc="-75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IITB</a:t>
            </a:r>
            <a:r>
              <a:rPr sz="3100" spc="-140" dirty="0">
                <a:latin typeface="Cambria"/>
                <a:cs typeface="Cambria"/>
              </a:rPr>
              <a:t> </a:t>
            </a:r>
            <a:r>
              <a:rPr sz="3100" spc="-105" dirty="0">
                <a:latin typeface="Cambria"/>
                <a:cs typeface="Cambria"/>
              </a:rPr>
              <a:t>English-</a:t>
            </a:r>
            <a:r>
              <a:rPr sz="3100" spc="-50" dirty="0">
                <a:latin typeface="Cambria"/>
                <a:cs typeface="Cambria"/>
              </a:rPr>
              <a:t>Hindi</a:t>
            </a:r>
            <a:r>
              <a:rPr sz="3100" spc="125" dirty="0">
                <a:latin typeface="Cambria"/>
                <a:cs typeface="Cambria"/>
              </a:rPr>
              <a:t> </a:t>
            </a:r>
            <a:r>
              <a:rPr sz="3100" spc="-120" dirty="0">
                <a:latin typeface="Cambria"/>
                <a:cs typeface="Cambria"/>
              </a:rPr>
              <a:t>Parallel</a:t>
            </a:r>
            <a:r>
              <a:rPr sz="3100" spc="-40" dirty="0">
                <a:latin typeface="Cambria"/>
                <a:cs typeface="Cambria"/>
              </a:rPr>
              <a:t> </a:t>
            </a:r>
            <a:r>
              <a:rPr sz="3100" spc="-130" dirty="0">
                <a:latin typeface="Cambria"/>
                <a:cs typeface="Cambria"/>
              </a:rPr>
              <a:t>Corpus</a:t>
            </a:r>
            <a:r>
              <a:rPr sz="3100" spc="-40" dirty="0">
                <a:latin typeface="Cambria"/>
                <a:cs typeface="Cambria"/>
              </a:rPr>
              <a:t> </a:t>
            </a:r>
            <a:r>
              <a:rPr sz="3100" spc="-10" dirty="0">
                <a:latin typeface="Cambria"/>
                <a:cs typeface="Cambria"/>
              </a:rPr>
              <a:t>(-</a:t>
            </a:r>
            <a:r>
              <a:rPr sz="3100" dirty="0">
                <a:latin typeface="Cambria"/>
                <a:cs typeface="Cambria"/>
              </a:rPr>
              <a:t>1.6M</a:t>
            </a:r>
            <a:r>
              <a:rPr sz="3100" spc="-114" dirty="0">
                <a:latin typeface="Cambria"/>
                <a:cs typeface="Cambria"/>
              </a:rPr>
              <a:t> </a:t>
            </a:r>
            <a:r>
              <a:rPr sz="3100" spc="-140" dirty="0">
                <a:latin typeface="Cambria"/>
                <a:cs typeface="Cambria"/>
              </a:rPr>
              <a:t>sentence</a:t>
            </a:r>
            <a:r>
              <a:rPr sz="3100" dirty="0">
                <a:latin typeface="Cambria"/>
                <a:cs typeface="Cambria"/>
              </a:rPr>
              <a:t> </a:t>
            </a:r>
            <a:r>
              <a:rPr sz="3100" spc="-20" dirty="0">
                <a:latin typeface="Cambria"/>
                <a:cs typeface="Cambria"/>
              </a:rPr>
              <a:t>pairs).</a:t>
            </a:r>
            <a:endParaRPr sz="3100">
              <a:latin typeface="Cambria"/>
              <a:cs typeface="Cambria"/>
            </a:endParaRPr>
          </a:p>
          <a:p>
            <a:pPr marL="770255" indent="-577215">
              <a:lnSpc>
                <a:spcPts val="3585"/>
              </a:lnSpc>
              <a:buClr>
                <a:srgbClr val="363636"/>
              </a:buClr>
              <a:buChar char="•"/>
              <a:tabLst>
                <a:tab pos="770255" algn="l"/>
                <a:tab pos="8669655" algn="l"/>
              </a:tabLst>
            </a:pPr>
            <a:r>
              <a:rPr sz="3100" dirty="0">
                <a:latin typeface="Cambria"/>
                <a:cs typeface="Cambria"/>
              </a:rPr>
              <a:t>Domain</a:t>
            </a:r>
            <a:r>
              <a:rPr sz="3100" spc="-175" dirty="0">
                <a:latin typeface="Cambria"/>
                <a:cs typeface="Cambria"/>
              </a:rPr>
              <a:t> </a:t>
            </a:r>
            <a:r>
              <a:rPr sz="3100" spc="-45" dirty="0">
                <a:latin typeface="Cambria"/>
                <a:cs typeface="Cambria"/>
              </a:rPr>
              <a:t>Coverage:</a:t>
            </a:r>
            <a:r>
              <a:rPr sz="3100" spc="-125" dirty="0">
                <a:latin typeface="Cambria"/>
                <a:cs typeface="Cambria"/>
              </a:rPr>
              <a:t> </a:t>
            </a:r>
            <a:r>
              <a:rPr sz="3100" spc="-100" dirty="0">
                <a:latin typeface="Cambria"/>
                <a:cs typeface="Cambria"/>
              </a:rPr>
              <a:t>News,</a:t>
            </a:r>
            <a:r>
              <a:rPr sz="3100" spc="-75" dirty="0">
                <a:latin typeface="Cambria"/>
                <a:cs typeface="Cambria"/>
              </a:rPr>
              <a:t> </a:t>
            </a:r>
            <a:r>
              <a:rPr sz="3100" spc="-114" dirty="0">
                <a:latin typeface="Cambria"/>
                <a:cs typeface="Cambria"/>
              </a:rPr>
              <a:t>Literature,</a:t>
            </a:r>
            <a:r>
              <a:rPr sz="3100" spc="-20" dirty="0">
                <a:latin typeface="Cambria"/>
                <a:cs typeface="Cambria"/>
              </a:rPr>
              <a:t> Government</a:t>
            </a:r>
            <a:r>
              <a:rPr sz="3100" dirty="0">
                <a:latin typeface="Cambria"/>
                <a:cs typeface="Cambria"/>
              </a:rPr>
              <a:t>	</a:t>
            </a:r>
            <a:r>
              <a:rPr sz="3100" spc="-30" dirty="0">
                <a:latin typeface="Cambria"/>
                <a:cs typeface="Cambria"/>
              </a:rPr>
              <a:t>Documents.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51837" y="3988152"/>
            <a:ext cx="141224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70" dirty="0">
                <a:latin typeface="Cambria"/>
                <a:cs typeface="Cambria"/>
              </a:rPr>
              <a:t>Raw </a:t>
            </a:r>
            <a:r>
              <a:rPr sz="2850" spc="-50" dirty="0">
                <a:latin typeface="Cambria"/>
                <a:cs typeface="Cambria"/>
              </a:rPr>
              <a:t>Text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5969" y="5044369"/>
            <a:ext cx="1802764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25" dirty="0">
                <a:latin typeface="Consolas"/>
                <a:cs typeface="Consolas"/>
              </a:rPr>
              <a:t>Hello</a:t>
            </a:r>
            <a:r>
              <a:rPr sz="2400" spc="-300" dirty="0">
                <a:latin typeface="Consolas"/>
                <a:cs typeface="Consolas"/>
              </a:rPr>
              <a:t> </a:t>
            </a:r>
            <a:r>
              <a:rPr sz="2400" spc="-30" dirty="0">
                <a:latin typeface="Consolas"/>
                <a:cs typeface="Consolas"/>
              </a:rPr>
              <a:t>world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06968" y="3746852"/>
            <a:ext cx="2500630" cy="882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6355" algn="ctr">
              <a:lnSpc>
                <a:spcPts val="3310"/>
              </a:lnSpc>
              <a:spcBef>
                <a:spcPts val="95"/>
              </a:spcBef>
            </a:pPr>
            <a:r>
              <a:rPr sz="2850" spc="-10" dirty="0">
                <a:latin typeface="Cambria"/>
                <a:cs typeface="Cambria"/>
              </a:rPr>
              <a:t>Tokenization</a:t>
            </a:r>
            <a:endParaRPr sz="2850">
              <a:latin typeface="Cambria"/>
              <a:cs typeface="Cambria"/>
            </a:endParaRPr>
          </a:p>
          <a:p>
            <a:pPr algn="ctr">
              <a:lnSpc>
                <a:spcPts val="3429"/>
              </a:lnSpc>
            </a:pPr>
            <a:r>
              <a:rPr sz="2950" spc="-50" dirty="0">
                <a:latin typeface="Cambria"/>
                <a:cs typeface="Cambria"/>
              </a:rPr>
              <a:t>(SentencePiece)</a:t>
            </a:r>
            <a:endParaRPr sz="29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0537" y="5044369"/>
            <a:ext cx="281368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ourier New"/>
                <a:cs typeface="Courier New"/>
              </a:rPr>
              <a:t>[</a:t>
            </a:r>
            <a:r>
              <a:rPr sz="2400" spc="-95" dirty="0">
                <a:latin typeface="Courier New"/>
                <a:cs typeface="Courier New"/>
              </a:rPr>
              <a:t> </a:t>
            </a:r>
            <a:r>
              <a:rPr sz="2400" spc="-200" dirty="0">
                <a:latin typeface="Courier New"/>
                <a:cs typeface="Courier New"/>
              </a:rPr>
              <a:t>_He,</a:t>
            </a:r>
            <a:r>
              <a:rPr sz="2400" spc="-280" dirty="0">
                <a:latin typeface="Courier New"/>
                <a:cs typeface="Courier New"/>
              </a:rPr>
              <a:t> </a:t>
            </a:r>
            <a:r>
              <a:rPr sz="2400" spc="-85" dirty="0">
                <a:latin typeface="Courier New"/>
                <a:cs typeface="Courier New"/>
              </a:rPr>
              <a:t>llo,</a:t>
            </a:r>
            <a:r>
              <a:rPr sz="2400" spc="-140" dirty="0">
                <a:latin typeface="Courier New"/>
                <a:cs typeface="Courier New"/>
              </a:rPr>
              <a:t> </a:t>
            </a:r>
            <a:r>
              <a:rPr sz="2400" spc="-165" dirty="0">
                <a:latin typeface="Courier New"/>
                <a:cs typeface="Courier New"/>
              </a:rPr>
              <a:t>_wor,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24536" y="6000750"/>
            <a:ext cx="2375535" cy="7620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65430" marR="5080" indent="-253365">
              <a:lnSpc>
                <a:spcPts val="2800"/>
              </a:lnSpc>
              <a:spcBef>
                <a:spcPts val="360"/>
              </a:spcBef>
            </a:pPr>
            <a:r>
              <a:rPr sz="2500" spc="-85" dirty="0">
                <a:solidFill>
                  <a:srgbClr val="82503A"/>
                </a:solidFill>
                <a:latin typeface="Cambria"/>
                <a:cs typeface="Cambria"/>
              </a:rPr>
              <a:t>Subivord</a:t>
            </a:r>
            <a:r>
              <a:rPr sz="2500" spc="30" dirty="0">
                <a:solidFill>
                  <a:srgbClr val="82503A"/>
                </a:solidFill>
                <a:latin typeface="Cambria"/>
                <a:cs typeface="Cambria"/>
              </a:rPr>
              <a:t> </a:t>
            </a:r>
            <a:r>
              <a:rPr sz="2500" spc="-40" dirty="0">
                <a:solidFill>
                  <a:srgbClr val="936D59"/>
                </a:solidFill>
                <a:latin typeface="Cambria"/>
                <a:cs typeface="Cambria"/>
              </a:rPr>
              <a:t>Units</a:t>
            </a:r>
            <a:r>
              <a:rPr sz="2500" spc="-35" dirty="0">
                <a:solidFill>
                  <a:srgbClr val="936D59"/>
                </a:solidFill>
                <a:latin typeface="Cambria"/>
                <a:cs typeface="Cambria"/>
              </a:rPr>
              <a:t> </a:t>
            </a:r>
            <a:r>
              <a:rPr sz="2500" spc="-80" dirty="0">
                <a:solidFill>
                  <a:srgbClr val="A1705D"/>
                </a:solidFill>
                <a:latin typeface="Cambria"/>
                <a:cs typeface="Cambria"/>
              </a:rPr>
              <a:t>for </a:t>
            </a:r>
            <a:r>
              <a:rPr sz="2500" dirty="0">
                <a:solidFill>
                  <a:srgbClr val="97644D"/>
                </a:solidFill>
                <a:latin typeface="Cambria"/>
                <a:cs typeface="Cambria"/>
              </a:rPr>
              <a:t>OOV</a:t>
            </a:r>
            <a:r>
              <a:rPr sz="2500" spc="-20" dirty="0">
                <a:solidFill>
                  <a:srgbClr val="97644D"/>
                </a:solidFill>
                <a:latin typeface="Cambria"/>
                <a:cs typeface="Cambria"/>
              </a:rPr>
              <a:t> </a:t>
            </a:r>
            <a:r>
              <a:rPr sz="2500" spc="-10" dirty="0">
                <a:solidFill>
                  <a:srgbClr val="8C4B31"/>
                </a:solidFill>
                <a:latin typeface="Cambria"/>
                <a:cs typeface="Cambria"/>
              </a:rPr>
              <a:t>handling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4717" y="7327194"/>
            <a:ext cx="6797040" cy="1304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429"/>
              </a:lnSpc>
              <a:spcBef>
                <a:spcPts val="105"/>
              </a:spcBef>
            </a:pPr>
            <a:r>
              <a:rPr sz="3050" spc="-110" dirty="0">
                <a:solidFill>
                  <a:srgbClr val="A35E42"/>
                </a:solidFill>
                <a:latin typeface="Cambria"/>
                <a:cs typeface="Cambria"/>
              </a:rPr>
              <a:t>**Why</a:t>
            </a:r>
            <a:r>
              <a:rPr sz="3050" spc="-40" dirty="0">
                <a:solidFill>
                  <a:srgbClr val="A35E42"/>
                </a:solidFill>
                <a:latin typeface="Cambria"/>
                <a:cs typeface="Cambria"/>
              </a:rPr>
              <a:t> </a:t>
            </a:r>
            <a:r>
              <a:rPr sz="3050" spc="-10" dirty="0">
                <a:solidFill>
                  <a:srgbClr val="A5593F"/>
                </a:solidFill>
                <a:latin typeface="Cambria"/>
                <a:cs typeface="Cambria"/>
              </a:rPr>
              <a:t>SentencePiece?**</a:t>
            </a:r>
            <a:endParaRPr sz="3050">
              <a:latin typeface="Cambria"/>
              <a:cs typeface="Cambria"/>
            </a:endParaRPr>
          </a:p>
          <a:p>
            <a:pPr marL="24130" marR="5080" indent="-3810">
              <a:lnSpc>
                <a:spcPts val="3200"/>
              </a:lnSpc>
              <a:spcBef>
                <a:spcPts val="260"/>
              </a:spcBef>
            </a:pPr>
            <a:r>
              <a:rPr sz="3050" spc="-45" dirty="0">
                <a:latin typeface="Times New Roman"/>
                <a:cs typeface="Times New Roman"/>
              </a:rPr>
              <a:t>Handles</a:t>
            </a:r>
            <a:r>
              <a:rPr sz="3050" spc="-150" dirty="0">
                <a:latin typeface="Times New Roman"/>
                <a:cs typeface="Times New Roman"/>
              </a:rPr>
              <a:t> </a:t>
            </a:r>
            <a:r>
              <a:rPr sz="3050" spc="-120" dirty="0">
                <a:latin typeface="Times New Roman"/>
                <a:cs typeface="Times New Roman"/>
              </a:rPr>
              <a:t>Out-Of-</a:t>
            </a:r>
            <a:r>
              <a:rPr sz="3050" spc="-114" dirty="0">
                <a:latin typeface="Times New Roman"/>
                <a:cs typeface="Times New Roman"/>
              </a:rPr>
              <a:t>Vocabulary</a:t>
            </a:r>
            <a:r>
              <a:rPr sz="3050" spc="-145" dirty="0">
                <a:latin typeface="Times New Roman"/>
                <a:cs typeface="Times New Roman"/>
              </a:rPr>
              <a:t> </a:t>
            </a:r>
            <a:r>
              <a:rPr sz="3050" spc="-65" dirty="0">
                <a:latin typeface="Times New Roman"/>
                <a:cs typeface="Times New Roman"/>
              </a:rPr>
              <a:t>words</a:t>
            </a:r>
            <a:r>
              <a:rPr sz="3050" spc="-110" dirty="0">
                <a:latin typeface="Times New Roman"/>
                <a:cs typeface="Times New Roman"/>
              </a:rPr>
              <a:t> </a:t>
            </a:r>
            <a:r>
              <a:rPr sz="3050" spc="-30" dirty="0">
                <a:latin typeface="Times New Roman"/>
                <a:cs typeface="Times New Roman"/>
              </a:rPr>
              <a:t>critical</a:t>
            </a:r>
            <a:r>
              <a:rPr sz="3050" spc="-70" dirty="0">
                <a:latin typeface="Times New Roman"/>
                <a:cs typeface="Times New Roman"/>
              </a:rPr>
              <a:t> </a:t>
            </a:r>
            <a:r>
              <a:rPr sz="3050" spc="-25" dirty="0">
                <a:latin typeface="Times New Roman"/>
                <a:cs typeface="Times New Roman"/>
              </a:rPr>
              <a:t>for </a:t>
            </a:r>
            <a:r>
              <a:rPr sz="3050" spc="-45" dirty="0">
                <a:latin typeface="Times New Roman"/>
                <a:cs typeface="Times New Roman"/>
              </a:rPr>
              <a:t>multilingual</a:t>
            </a:r>
            <a:r>
              <a:rPr sz="3050" spc="-75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contexts.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06836" y="3988152"/>
            <a:ext cx="2740025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10" dirty="0">
                <a:latin typeface="Cambria"/>
                <a:cs typeface="Cambria"/>
              </a:rPr>
              <a:t>Language</a:t>
            </a:r>
            <a:r>
              <a:rPr sz="2850" spc="-6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Forcing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99064" y="5068005"/>
            <a:ext cx="3989070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10" dirty="0">
                <a:latin typeface="Consolas"/>
                <a:cs typeface="Consolas"/>
              </a:rPr>
              <a:t>{orced</a:t>
            </a:r>
            <a:r>
              <a:rPr sz="1950" spc="-150" dirty="0">
                <a:latin typeface="Consolas"/>
                <a:cs typeface="Consolas"/>
              </a:rPr>
              <a:t> </a:t>
            </a:r>
            <a:r>
              <a:rPr sz="1950" dirty="0">
                <a:latin typeface="Consolas"/>
                <a:cs typeface="Consolas"/>
              </a:rPr>
              <a:t>bos</a:t>
            </a:r>
            <a:r>
              <a:rPr sz="1950" spc="-114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token</a:t>
            </a:r>
            <a:r>
              <a:rPr sz="1950" spc="-130" dirty="0">
                <a:latin typeface="Consolas"/>
                <a:cs typeface="Consolas"/>
              </a:rPr>
              <a:t> </a:t>
            </a:r>
            <a:r>
              <a:rPr sz="1950" dirty="0">
                <a:latin typeface="Consolas"/>
                <a:cs typeface="Consolas"/>
              </a:rPr>
              <a:t>id</a:t>
            </a:r>
            <a:r>
              <a:rPr sz="1950" spc="-185" dirty="0">
                <a:latin typeface="Consolas"/>
                <a:cs typeface="Consolas"/>
              </a:rPr>
              <a:t> </a:t>
            </a:r>
            <a:r>
              <a:rPr sz="1950" spc="75" dirty="0">
                <a:solidFill>
                  <a:srgbClr val="232323"/>
                </a:solidFill>
                <a:latin typeface="Consolas"/>
                <a:cs typeface="Consolas"/>
              </a:rPr>
              <a:t>=</a:t>
            </a:r>
            <a:r>
              <a:rPr sz="1950" spc="-270" dirty="0">
                <a:solidFill>
                  <a:srgbClr val="232323"/>
                </a:solidFill>
                <a:latin typeface="Consolas"/>
                <a:cs typeface="Consolas"/>
              </a:rPr>
              <a:t> </a:t>
            </a:r>
            <a:r>
              <a:rPr sz="1950" dirty="0">
                <a:latin typeface="Consolas"/>
                <a:cs typeface="Consolas"/>
              </a:rPr>
              <a:t>hin</a:t>
            </a:r>
            <a:r>
              <a:rPr sz="1950" spc="-65" dirty="0">
                <a:latin typeface="Consolas"/>
                <a:cs typeface="Consolas"/>
              </a:rPr>
              <a:t> </a:t>
            </a:r>
            <a:r>
              <a:rPr sz="1950" spc="-20" dirty="0">
                <a:latin typeface="Consolas"/>
                <a:cs typeface="Consolas"/>
              </a:rPr>
              <a:t>Deva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91741" y="3979333"/>
            <a:ext cx="200215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latin typeface="Cambria"/>
                <a:cs typeface="Cambria"/>
              </a:rPr>
              <a:t>Model</a:t>
            </a:r>
            <a:r>
              <a:rPr sz="2900" spc="-120" dirty="0">
                <a:latin typeface="Cambria"/>
                <a:cs typeface="Cambria"/>
              </a:rPr>
              <a:t> </a:t>
            </a:r>
            <a:r>
              <a:rPr sz="2900" spc="-70" dirty="0">
                <a:latin typeface="Cambria"/>
                <a:cs typeface="Cambria"/>
              </a:rPr>
              <a:t>Ready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312633" y="5044369"/>
            <a:ext cx="197358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0" dirty="0">
                <a:latin typeface="Consolas"/>
                <a:cs typeface="Consolas"/>
              </a:rPr>
              <a:t>Tensor</a:t>
            </a:r>
            <a:r>
              <a:rPr sz="2400" spc="-295" dirty="0">
                <a:latin typeface="Consolas"/>
                <a:cs typeface="Consolas"/>
              </a:rPr>
              <a:t> </a:t>
            </a:r>
            <a:r>
              <a:rPr sz="2400" spc="-40" dirty="0">
                <a:latin typeface="Consolas"/>
                <a:cs typeface="Consolas"/>
              </a:rPr>
              <a:t>Input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55262" y="7347302"/>
            <a:ext cx="7409180" cy="1278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35"/>
              </a:lnSpc>
              <a:spcBef>
                <a:spcPts val="95"/>
              </a:spcBef>
            </a:pPr>
            <a:r>
              <a:rPr sz="2850" dirty="0">
                <a:solidFill>
                  <a:srgbClr val="8A5B46"/>
                </a:solidFill>
                <a:latin typeface="Cambria"/>
                <a:cs typeface="Cambria"/>
              </a:rPr>
              <a:t>”"Why</a:t>
            </a:r>
            <a:r>
              <a:rPr sz="2850" spc="120" dirty="0">
                <a:solidFill>
                  <a:srgbClr val="8A5B46"/>
                </a:solidFill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A55D3D"/>
                </a:solidFill>
                <a:latin typeface="Cambria"/>
                <a:cs typeface="Cambria"/>
              </a:rPr>
              <a:t>Forced</a:t>
            </a:r>
            <a:r>
              <a:rPr sz="2850" spc="-10" dirty="0">
                <a:solidFill>
                  <a:srgbClr val="A55D3D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A15B41"/>
                </a:solidFill>
                <a:latin typeface="Cambria"/>
                <a:cs typeface="Cambria"/>
              </a:rPr>
              <a:t>BOS?**</a:t>
            </a:r>
            <a:endParaRPr sz="2850">
              <a:latin typeface="Cambria"/>
              <a:cs typeface="Cambria"/>
            </a:endParaRPr>
          </a:p>
          <a:p>
            <a:pPr marL="16510" marR="5080" indent="-635">
              <a:lnSpc>
                <a:spcPts val="3200"/>
              </a:lnSpc>
              <a:spcBef>
                <a:spcPts val="204"/>
              </a:spcBef>
            </a:pPr>
            <a:r>
              <a:rPr sz="2850" spc="-55" dirty="0">
                <a:latin typeface="Cambria"/>
                <a:cs typeface="Cambria"/>
              </a:rPr>
              <a:t>Forces</a:t>
            </a:r>
            <a:r>
              <a:rPr sz="2850" spc="-114" dirty="0">
                <a:latin typeface="Cambria"/>
                <a:cs typeface="Cambria"/>
              </a:rPr>
              <a:t> </a:t>
            </a:r>
            <a:r>
              <a:rPr sz="2850" spc="-20" dirty="0">
                <a:latin typeface="Cambria"/>
                <a:cs typeface="Cambria"/>
              </a:rPr>
              <a:t>the</a:t>
            </a:r>
            <a:r>
              <a:rPr sz="2850" spc="-135" dirty="0">
                <a:latin typeface="Cambria"/>
                <a:cs typeface="Cambria"/>
              </a:rPr>
              <a:t> </a:t>
            </a:r>
            <a:r>
              <a:rPr sz="2850" spc="-35" dirty="0">
                <a:latin typeface="Cambria"/>
                <a:cs typeface="Cambria"/>
              </a:rPr>
              <a:t>decoder</a:t>
            </a:r>
            <a:r>
              <a:rPr sz="2850" spc="-100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to</a:t>
            </a:r>
            <a:r>
              <a:rPr sz="2850" spc="-155" dirty="0">
                <a:latin typeface="Cambria"/>
                <a:cs typeface="Cambria"/>
              </a:rPr>
              <a:t> </a:t>
            </a:r>
            <a:r>
              <a:rPr sz="2850" spc="-40" dirty="0">
                <a:latin typeface="Cambria"/>
                <a:cs typeface="Cambria"/>
              </a:rPr>
              <a:t>initiate</a:t>
            </a:r>
            <a:r>
              <a:rPr sz="2850" spc="-5" dirty="0">
                <a:latin typeface="Cambria"/>
                <a:cs typeface="Cambria"/>
              </a:rPr>
              <a:t> </a:t>
            </a:r>
            <a:r>
              <a:rPr sz="2850" spc="-35" dirty="0">
                <a:latin typeface="Cambria"/>
                <a:cs typeface="Cambria"/>
              </a:rPr>
              <a:t>generation</a:t>
            </a:r>
            <a:r>
              <a:rPr sz="2850" spc="5" dirty="0">
                <a:latin typeface="Cambria"/>
                <a:cs typeface="Cambria"/>
              </a:rPr>
              <a:t> </a:t>
            </a:r>
            <a:r>
              <a:rPr sz="2850" spc="-25" dirty="0">
                <a:latin typeface="Cambria"/>
                <a:cs typeface="Cambria"/>
              </a:rPr>
              <a:t>in </a:t>
            </a:r>
            <a:r>
              <a:rPr sz="2850" spc="-50" dirty="0">
                <a:latin typeface="Cambria"/>
                <a:cs typeface="Cambria"/>
              </a:rPr>
              <a:t>Devanagari</a:t>
            </a:r>
            <a:r>
              <a:rPr sz="2850" spc="3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script,</a:t>
            </a:r>
            <a:r>
              <a:rPr sz="2850" spc="-40" dirty="0">
                <a:latin typeface="Cambria"/>
                <a:cs typeface="Cambria"/>
              </a:rPr>
              <a:t> </a:t>
            </a:r>
            <a:r>
              <a:rPr sz="2850" spc="-65" dirty="0">
                <a:latin typeface="Cambria"/>
                <a:cs typeface="Cambria"/>
              </a:rPr>
              <a:t>preventing</a:t>
            </a:r>
            <a:r>
              <a:rPr sz="2850" spc="-25" dirty="0">
                <a:latin typeface="Cambria"/>
                <a:cs typeface="Cambria"/>
              </a:rPr>
              <a:t> </a:t>
            </a:r>
            <a:r>
              <a:rPr sz="2850" spc="-45" dirty="0">
                <a:latin typeface="Cambria"/>
                <a:cs typeface="Cambria"/>
              </a:rPr>
              <a:t>Romanized</a:t>
            </a:r>
            <a:r>
              <a:rPr sz="2850" spc="-7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output.</a:t>
            </a:r>
            <a:endParaRPr sz="2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3600" y="5130800"/>
            <a:ext cx="749300" cy="254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1000" y="5130800"/>
            <a:ext cx="736600" cy="254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69500" y="5105400"/>
            <a:ext cx="736600" cy="2921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309600" y="4686300"/>
            <a:ext cx="749300" cy="1202690"/>
            <a:chOff x="13309600" y="4686300"/>
            <a:chExt cx="749300" cy="120269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09600" y="5130800"/>
              <a:ext cx="736600" cy="2413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048312" y="4686300"/>
              <a:ext cx="0" cy="1202690"/>
            </a:xfrm>
            <a:custGeom>
              <a:avLst/>
              <a:gdLst/>
              <a:ahLst/>
              <a:cxnLst/>
              <a:rect l="l" t="t" r="r" b="b"/>
              <a:pathLst>
                <a:path h="1202689">
                  <a:moveTo>
                    <a:pt x="0" y="12022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54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0697633" y="4152900"/>
          <a:ext cx="2564765" cy="2247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44848"/>
                      </a:solidFill>
                      <a:prstDash val="solid"/>
                    </a:lnL>
                    <a:lnR w="28575">
                      <a:solidFill>
                        <a:srgbClr val="544848"/>
                      </a:solidFill>
                      <a:prstDash val="solid"/>
                    </a:lnR>
                    <a:lnT w="28575">
                      <a:solidFill>
                        <a:srgbClr val="544848"/>
                      </a:solidFill>
                      <a:prstDash val="solid"/>
                    </a:lnT>
                    <a:lnB w="28575">
                      <a:solidFill>
                        <a:srgbClr val="54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44848"/>
                      </a:solidFill>
                      <a:prstDash val="solid"/>
                    </a:lnL>
                    <a:lnR w="28575">
                      <a:solidFill>
                        <a:srgbClr val="544848"/>
                      </a:solidFill>
                      <a:prstDash val="solid"/>
                    </a:lnR>
                    <a:lnT w="28575">
                      <a:solidFill>
                        <a:srgbClr val="544848"/>
                      </a:solidFill>
                      <a:prstDash val="solid"/>
                    </a:lnT>
                    <a:lnB w="28575">
                      <a:solidFill>
                        <a:srgbClr val="5448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0">
                <a:tc gridSpan="2"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2550" spc="-10" dirty="0">
                          <a:latin typeface="Consolas"/>
                          <a:cs typeface="Consolas"/>
                        </a:rPr>
                        <a:t>Model:</a:t>
                      </a:r>
                      <a:endParaRPr sz="2550">
                        <a:latin typeface="Consolas"/>
                        <a:cs typeface="Consolas"/>
                      </a:endParaRPr>
                    </a:p>
                    <a:p>
                      <a:pPr marL="52069" algn="ctr">
                        <a:lnSpc>
                          <a:spcPts val="2710"/>
                        </a:lnSpc>
                        <a:spcBef>
                          <a:spcPts val="40"/>
                        </a:spcBef>
                      </a:pPr>
                      <a:r>
                        <a:rPr sz="2350" spc="185" dirty="0">
                          <a:latin typeface="Calibri"/>
                          <a:cs typeface="Calibri"/>
                        </a:rPr>
                        <a:t>NLLB</a:t>
                      </a:r>
                      <a:r>
                        <a:rPr sz="235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350" spc="18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350" spc="275" dirty="0">
                          <a:latin typeface="Calibri"/>
                          <a:cs typeface="Calibri"/>
                        </a:rPr>
                        <a:t>200</a:t>
                      </a:r>
                      <a:endParaRPr sz="2350">
                        <a:latin typeface="Calibri"/>
                        <a:cs typeface="Calibri"/>
                      </a:endParaRPr>
                    </a:p>
                    <a:p>
                      <a:pPr marL="47625" algn="ctr">
                        <a:lnSpc>
                          <a:spcPts val="3085"/>
                        </a:lnSpc>
                      </a:pPr>
                      <a:r>
                        <a:rPr sz="2700" spc="235" dirty="0">
                          <a:latin typeface="Calibri"/>
                          <a:cs typeface="Calibri"/>
                        </a:rPr>
                        <a:t>D1st1lled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marL="38735" algn="ctr">
                        <a:lnSpc>
                          <a:spcPts val="2955"/>
                        </a:lnSpc>
                      </a:pPr>
                      <a:r>
                        <a:rPr sz="2500" spc="-10" dirty="0">
                          <a:latin typeface="Calibri"/>
                          <a:cs typeface="Calibri"/>
                        </a:rPr>
                        <a:t>(600M)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T="90805" marB="0">
                    <a:lnL w="28575">
                      <a:solidFill>
                        <a:srgbClr val="544848"/>
                      </a:solidFill>
                      <a:prstDash val="solid"/>
                    </a:lnL>
                    <a:lnR w="28575">
                      <a:solidFill>
                        <a:srgbClr val="544848"/>
                      </a:solidFill>
                      <a:prstDash val="solid"/>
                    </a:lnR>
                    <a:lnT w="28575">
                      <a:solidFill>
                        <a:srgbClr val="544848"/>
                      </a:solidFill>
                      <a:prstDash val="solid"/>
                    </a:lnT>
                    <a:lnB w="28575">
                      <a:solidFill>
                        <a:srgbClr val="5448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144433" y="4152900"/>
          <a:ext cx="2552700" cy="2247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44848"/>
                      </a:solidFill>
                      <a:prstDash val="solid"/>
                    </a:lnL>
                    <a:lnR w="28575">
                      <a:solidFill>
                        <a:srgbClr val="544848"/>
                      </a:solidFill>
                      <a:prstDash val="solid"/>
                    </a:lnR>
                    <a:lnT w="28575">
                      <a:solidFill>
                        <a:srgbClr val="544848"/>
                      </a:solidFill>
                      <a:prstDash val="solid"/>
                    </a:lnT>
                    <a:lnB w="28575">
                      <a:solidFill>
                        <a:srgbClr val="54484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544848"/>
                      </a:solidFill>
                      <a:prstDash val="solid"/>
                    </a:lnL>
                    <a:lnR w="28575">
                      <a:solidFill>
                        <a:srgbClr val="544848"/>
                      </a:solidFill>
                      <a:prstDash val="solid"/>
                    </a:lnR>
                    <a:lnT w="28575">
                      <a:solidFill>
                        <a:srgbClr val="544848"/>
                      </a:solidFill>
                      <a:prstDash val="solid"/>
                    </a:lnT>
                    <a:lnB w="28575">
                      <a:solidFill>
                        <a:srgbClr val="54484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1355">
                <a:tc gridSpan="2">
                  <a:txBody>
                    <a:bodyPr/>
                    <a:lstStyle/>
                    <a:p>
                      <a:pPr marL="660400" marR="636905" indent="8255" algn="ctr">
                        <a:lnSpc>
                          <a:spcPts val="2900"/>
                        </a:lnSpc>
                        <a:spcBef>
                          <a:spcPts val="1910"/>
                        </a:spcBef>
                        <a:tabLst>
                          <a:tab pos="1210945" algn="l"/>
                        </a:tabLst>
                      </a:pPr>
                      <a:r>
                        <a:rPr sz="2700" spc="-275" dirty="0">
                          <a:latin typeface="Courier New"/>
                          <a:cs typeface="Courier New"/>
                        </a:rPr>
                        <a:t>Model: </a:t>
                      </a:r>
                      <a:r>
                        <a:rPr sz="2400" spc="-25" dirty="0">
                          <a:latin typeface="Cambria"/>
                          <a:cs typeface="Cambria"/>
                        </a:rPr>
                        <a:t>TS-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	</a:t>
                      </a:r>
                      <a:r>
                        <a:rPr sz="2400" spc="130" dirty="0">
                          <a:latin typeface="Cambria"/>
                          <a:cs typeface="Cambria"/>
                        </a:rPr>
                        <a:t>Base </a:t>
                      </a:r>
                      <a:r>
                        <a:rPr sz="2400" spc="-10" dirty="0">
                          <a:latin typeface="Cambria"/>
                          <a:cs typeface="Cambria"/>
                        </a:rPr>
                        <a:t>(220N)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242570" marB="0">
                    <a:lnL w="28575">
                      <a:solidFill>
                        <a:srgbClr val="544848"/>
                      </a:solidFill>
                      <a:prstDash val="solid"/>
                    </a:lnL>
                    <a:lnR w="28575">
                      <a:solidFill>
                        <a:srgbClr val="544848"/>
                      </a:solidFill>
                      <a:prstDash val="solid"/>
                    </a:lnR>
                    <a:lnT w="28575">
                      <a:solidFill>
                        <a:srgbClr val="544848"/>
                      </a:solidFill>
                      <a:prstDash val="solid"/>
                    </a:lnT>
                    <a:lnB w="28575">
                      <a:solidFill>
                        <a:srgbClr val="54484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14037729" y="4686300"/>
            <a:ext cx="2498090" cy="1202690"/>
            <a:chOff x="14037729" y="4686300"/>
            <a:chExt cx="2498090" cy="1202690"/>
          </a:xfrm>
        </p:grpSpPr>
        <p:sp>
          <p:nvSpPr>
            <p:cNvPr id="11" name="object 11"/>
            <p:cNvSpPr/>
            <p:nvPr/>
          </p:nvSpPr>
          <p:spPr>
            <a:xfrm>
              <a:off x="16524812" y="4686300"/>
              <a:ext cx="0" cy="1202690"/>
            </a:xfrm>
            <a:custGeom>
              <a:avLst/>
              <a:gdLst/>
              <a:ahLst/>
              <a:cxnLst/>
              <a:rect l="l" t="t" r="r" b="b"/>
              <a:pathLst>
                <a:path h="1202689">
                  <a:moveTo>
                    <a:pt x="0" y="12022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54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37729" y="4696883"/>
              <a:ext cx="2498090" cy="0"/>
            </a:xfrm>
            <a:custGeom>
              <a:avLst/>
              <a:gdLst/>
              <a:ahLst/>
              <a:cxnLst/>
              <a:rect l="l" t="t" r="r" b="b"/>
              <a:pathLst>
                <a:path w="2498090">
                  <a:moveTo>
                    <a:pt x="0" y="0"/>
                  </a:moveTo>
                  <a:lnTo>
                    <a:pt x="2497666" y="0"/>
                  </a:lnTo>
                </a:path>
              </a:pathLst>
            </a:custGeom>
            <a:ln w="21166">
              <a:solidFill>
                <a:srgbClr val="54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037729" y="5877983"/>
              <a:ext cx="2498090" cy="0"/>
            </a:xfrm>
            <a:custGeom>
              <a:avLst/>
              <a:gdLst/>
              <a:ahLst/>
              <a:cxnLst/>
              <a:rect l="l" t="t" r="r" b="b"/>
              <a:pathLst>
                <a:path w="2498090">
                  <a:moveTo>
                    <a:pt x="0" y="0"/>
                  </a:moveTo>
                  <a:lnTo>
                    <a:pt x="2497666" y="0"/>
                  </a:lnTo>
                </a:path>
              </a:pathLst>
            </a:custGeom>
            <a:ln w="21166">
              <a:solidFill>
                <a:srgbClr val="5448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62100" y="5067300"/>
              <a:ext cx="2070100" cy="40640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4815" rIns="0" bIns="0" rtlCol="0">
            <a:spAutoFit/>
          </a:bodyPr>
          <a:lstStyle/>
          <a:p>
            <a:pPr marL="695325">
              <a:lnSpc>
                <a:spcPct val="100000"/>
              </a:lnSpc>
              <a:spcBef>
                <a:spcPts val="95"/>
              </a:spcBef>
            </a:pPr>
            <a:r>
              <a:rPr sz="5700" dirty="0">
                <a:solidFill>
                  <a:srgbClr val="383838"/>
                </a:solidFill>
                <a:latin typeface="Arial MT"/>
                <a:cs typeface="Arial MT"/>
              </a:rPr>
              <a:t>System</a:t>
            </a:r>
            <a:r>
              <a:rPr sz="5700" spc="17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5700" spc="114" dirty="0">
                <a:solidFill>
                  <a:srgbClr val="2F2F2F"/>
                </a:solidFill>
                <a:latin typeface="Arial MT"/>
                <a:cs typeface="Arial MT"/>
              </a:rPr>
              <a:t>Architecture:</a:t>
            </a:r>
            <a:r>
              <a:rPr sz="5700" spc="32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5700" spc="-45" dirty="0">
                <a:solidFill>
                  <a:srgbClr val="2F2F2F"/>
                </a:solidFill>
                <a:latin typeface="Arial MT"/>
                <a:cs typeface="Arial MT"/>
              </a:rPr>
              <a:t>The</a:t>
            </a:r>
            <a:r>
              <a:rPr sz="5700" spc="-27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5700" spc="120" dirty="0">
                <a:latin typeface="Arial MT"/>
                <a:cs typeface="Arial MT"/>
              </a:rPr>
              <a:t>Intelligent</a:t>
            </a:r>
            <a:r>
              <a:rPr sz="5700" spc="130" dirty="0">
                <a:latin typeface="Arial MT"/>
                <a:cs typeface="Arial MT"/>
              </a:rPr>
              <a:t> </a:t>
            </a:r>
            <a:r>
              <a:rPr sz="5700" spc="-10" dirty="0">
                <a:solidFill>
                  <a:srgbClr val="333333"/>
                </a:solidFill>
                <a:latin typeface="Arial MT"/>
                <a:cs typeface="Arial MT"/>
              </a:rPr>
              <a:t>Pipeline</a:t>
            </a:r>
            <a:endParaRPr sz="57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23439" y="3985683"/>
            <a:ext cx="1826260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latin typeface="Cambria"/>
                <a:cs typeface="Cambria"/>
              </a:rPr>
              <a:t>Noisy</a:t>
            </a:r>
            <a:r>
              <a:rPr sz="2900" spc="-125" dirty="0">
                <a:latin typeface="Cambria"/>
                <a:cs typeface="Cambria"/>
              </a:rPr>
              <a:t> </a:t>
            </a:r>
            <a:r>
              <a:rPr sz="2900" spc="-20" dirty="0">
                <a:latin typeface="Cambria"/>
                <a:cs typeface="Cambria"/>
              </a:rPr>
              <a:t>Input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91116" y="4696883"/>
            <a:ext cx="2476500" cy="1181100"/>
          </a:xfrm>
          <a:prstGeom prst="rect">
            <a:avLst/>
          </a:prstGeom>
          <a:ln w="21166">
            <a:solidFill>
              <a:srgbClr val="544848"/>
            </a:solidFill>
          </a:ln>
        </p:spPr>
        <p:txBody>
          <a:bodyPr vert="horz" wrap="square" lIns="0" tIns="196215" rIns="0" bIns="0" rtlCol="0">
            <a:spAutoFit/>
          </a:bodyPr>
          <a:lstStyle/>
          <a:p>
            <a:pPr marL="716280" marR="335280" indent="-341630">
              <a:lnSpc>
                <a:spcPts val="2900"/>
              </a:lnSpc>
              <a:spcBef>
                <a:spcPts val="1545"/>
              </a:spcBef>
            </a:pPr>
            <a:r>
              <a:rPr sz="2700" dirty="0">
                <a:latin typeface="Consolas"/>
                <a:cs typeface="Consolas"/>
              </a:rPr>
              <a:t>i</a:t>
            </a:r>
            <a:r>
              <a:rPr sz="2700" spc="-305" dirty="0">
                <a:latin typeface="Consolas"/>
                <a:cs typeface="Consolas"/>
              </a:rPr>
              <a:t> </a:t>
            </a:r>
            <a:r>
              <a:rPr sz="2700" dirty="0">
                <a:latin typeface="Consolas"/>
                <a:cs typeface="Consolas"/>
              </a:rPr>
              <a:t>am</a:t>
            </a:r>
            <a:r>
              <a:rPr sz="2700" spc="-140" dirty="0">
                <a:latin typeface="Consolas"/>
                <a:cs typeface="Consolas"/>
              </a:rPr>
              <a:t> </a:t>
            </a:r>
            <a:r>
              <a:rPr sz="2700" spc="-130" dirty="0">
                <a:latin typeface="Consolas"/>
                <a:cs typeface="Consolas"/>
              </a:rPr>
              <a:t>going </a:t>
            </a:r>
            <a:r>
              <a:rPr sz="2700" spc="-10" dirty="0">
                <a:latin typeface="Consolas"/>
                <a:cs typeface="Consolas"/>
              </a:rPr>
              <a:t>school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57736" y="3257550"/>
            <a:ext cx="2942590" cy="7810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481330" marR="5080" indent="-469265">
              <a:lnSpc>
                <a:spcPts val="2950"/>
              </a:lnSpc>
              <a:spcBef>
                <a:spcPts val="240"/>
              </a:spcBef>
            </a:pPr>
            <a:r>
              <a:rPr sz="2500" dirty="0">
                <a:latin typeface="Cambria"/>
                <a:cs typeface="Cambria"/>
              </a:rPr>
              <a:t>STAGE</a:t>
            </a:r>
            <a:r>
              <a:rPr sz="2500" spc="19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1:</a:t>
            </a:r>
            <a:r>
              <a:rPr sz="2500" spc="9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GRAMMAR </a:t>
            </a:r>
            <a:r>
              <a:rPr sz="2500" spc="70" dirty="0">
                <a:latin typeface="Cambria"/>
                <a:cs typeface="Cambria"/>
              </a:rPr>
              <a:t>CORRECTION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49274" y="3985683"/>
            <a:ext cx="214693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latin typeface="Cambria"/>
                <a:cs typeface="Cambria"/>
              </a:rPr>
              <a:t>Clean</a:t>
            </a:r>
            <a:r>
              <a:rPr sz="2900" spc="25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English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69716" y="4696883"/>
            <a:ext cx="2476500" cy="1181100"/>
          </a:xfrm>
          <a:prstGeom prst="rect">
            <a:avLst/>
          </a:prstGeom>
          <a:ln w="21166">
            <a:solidFill>
              <a:srgbClr val="544848"/>
            </a:solidFill>
          </a:ln>
        </p:spPr>
        <p:txBody>
          <a:bodyPr vert="horz" wrap="square" lIns="0" tIns="160655" rIns="0" bIns="0" rtlCol="0">
            <a:spAutoFit/>
          </a:bodyPr>
          <a:lstStyle/>
          <a:p>
            <a:pPr marL="375920">
              <a:lnSpc>
                <a:spcPts val="3035"/>
              </a:lnSpc>
              <a:spcBef>
                <a:spcPts val="1265"/>
              </a:spcBef>
            </a:pPr>
            <a:r>
              <a:rPr sz="2600" dirty="0">
                <a:latin typeface="Consolas"/>
                <a:cs typeface="Consolas"/>
              </a:rPr>
              <a:t>I</a:t>
            </a:r>
            <a:r>
              <a:rPr sz="2600" spc="-125" dirty="0">
                <a:latin typeface="Consolas"/>
                <a:cs typeface="Consolas"/>
              </a:rPr>
              <a:t> </a:t>
            </a:r>
            <a:r>
              <a:rPr sz="2600" dirty="0">
                <a:latin typeface="Consolas"/>
                <a:cs typeface="Consolas"/>
              </a:rPr>
              <a:t>am</a:t>
            </a:r>
            <a:r>
              <a:rPr sz="2600" spc="-55" dirty="0">
                <a:latin typeface="Consolas"/>
                <a:cs typeface="Consolas"/>
              </a:rPr>
              <a:t> </a:t>
            </a:r>
            <a:r>
              <a:rPr sz="2600" spc="-10" dirty="0">
                <a:latin typeface="Consolas"/>
                <a:cs typeface="Consolas"/>
              </a:rPr>
              <a:t>going</a:t>
            </a:r>
            <a:endParaRPr sz="2600">
              <a:latin typeface="Consolas"/>
              <a:cs typeface="Consolas"/>
            </a:endParaRPr>
          </a:p>
          <a:p>
            <a:pPr marL="381000">
              <a:lnSpc>
                <a:spcPts val="2975"/>
              </a:lnSpc>
            </a:pPr>
            <a:r>
              <a:rPr sz="2550" dirty="0">
                <a:latin typeface="Consolas"/>
                <a:cs typeface="Consolas"/>
              </a:rPr>
              <a:t>to</a:t>
            </a:r>
            <a:r>
              <a:rPr sz="2550" spc="-180" dirty="0">
                <a:latin typeface="Consolas"/>
                <a:cs typeface="Consolas"/>
              </a:rPr>
              <a:t> </a:t>
            </a:r>
            <a:r>
              <a:rPr sz="2550" spc="-10" dirty="0">
                <a:latin typeface="Consolas"/>
                <a:cs typeface="Consolas"/>
              </a:rPr>
              <a:t>school.</a:t>
            </a:r>
            <a:endParaRPr sz="255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88736" y="3257550"/>
            <a:ext cx="2627630" cy="7747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60985" marR="5080" indent="-248920">
              <a:lnSpc>
                <a:spcPts val="2900"/>
              </a:lnSpc>
              <a:spcBef>
                <a:spcPts val="280"/>
              </a:spcBef>
            </a:pPr>
            <a:r>
              <a:rPr sz="2500" spc="65" dirty="0">
                <a:latin typeface="Cambria"/>
                <a:cs typeface="Cambria"/>
              </a:rPr>
              <a:t>STAGE</a:t>
            </a:r>
            <a:r>
              <a:rPr sz="2500" spc="19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2:</a:t>
            </a:r>
            <a:r>
              <a:rPr sz="2500" spc="16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NEURAL TRANSLATION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265617" y="3985683"/>
            <a:ext cx="205549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 dirty="0">
                <a:latin typeface="Cambria"/>
                <a:cs typeface="Cambria"/>
              </a:rPr>
              <a:t>Hindi</a:t>
            </a:r>
            <a:r>
              <a:rPr sz="2900" spc="175" dirty="0">
                <a:latin typeface="Cambria"/>
                <a:cs typeface="Cambria"/>
              </a:rPr>
              <a:t> </a:t>
            </a:r>
            <a:r>
              <a:rPr sz="2900" spc="-55" dirty="0">
                <a:latin typeface="Cambria"/>
                <a:cs typeface="Cambria"/>
              </a:rPr>
              <a:t>Output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9999" y="7707135"/>
            <a:ext cx="15097125" cy="96774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 marR="5080" indent="6350">
              <a:lnSpc>
                <a:spcPts val="3500"/>
              </a:lnSpc>
              <a:spcBef>
                <a:spcPts val="560"/>
              </a:spcBef>
            </a:pPr>
            <a:r>
              <a:rPr sz="3250" spc="-50" dirty="0">
                <a:latin typeface="Cambria"/>
                <a:cs typeface="Cambria"/>
              </a:rPr>
              <a:t>Standard</a:t>
            </a:r>
            <a:r>
              <a:rPr sz="3250" spc="-125" dirty="0">
                <a:latin typeface="Cambria"/>
                <a:cs typeface="Cambria"/>
              </a:rPr>
              <a:t> </a:t>
            </a:r>
            <a:r>
              <a:rPr sz="3250" spc="-65" dirty="0">
                <a:latin typeface="Cambria"/>
                <a:cs typeface="Cambria"/>
              </a:rPr>
              <a:t>translators</a:t>
            </a:r>
            <a:r>
              <a:rPr sz="3250" spc="-114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often</a:t>
            </a:r>
            <a:r>
              <a:rPr sz="3250" spc="-45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fail</a:t>
            </a:r>
            <a:r>
              <a:rPr sz="3250" spc="-155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on</a:t>
            </a:r>
            <a:r>
              <a:rPr sz="3250" spc="-120" dirty="0">
                <a:latin typeface="Cambria"/>
                <a:cs typeface="Cambria"/>
              </a:rPr>
              <a:t> </a:t>
            </a:r>
            <a:r>
              <a:rPr sz="3250" spc="-50" dirty="0">
                <a:latin typeface="Cambria"/>
                <a:cs typeface="Cambria"/>
              </a:rPr>
              <a:t>user</a:t>
            </a:r>
            <a:r>
              <a:rPr sz="3250" spc="-130" dirty="0">
                <a:latin typeface="Cambria"/>
                <a:cs typeface="Cambria"/>
              </a:rPr>
              <a:t> </a:t>
            </a:r>
            <a:r>
              <a:rPr sz="3250" spc="-20" dirty="0">
                <a:latin typeface="Cambria"/>
                <a:cs typeface="Cambria"/>
              </a:rPr>
              <a:t>typos.</a:t>
            </a:r>
            <a:r>
              <a:rPr sz="3250" spc="-35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Our</a:t>
            </a:r>
            <a:r>
              <a:rPr sz="3250" spc="-175" dirty="0">
                <a:latin typeface="Cambria"/>
                <a:cs typeface="Cambria"/>
              </a:rPr>
              <a:t> </a:t>
            </a:r>
            <a:r>
              <a:rPr sz="3250" spc="-40" dirty="0">
                <a:latin typeface="Cambria"/>
                <a:cs typeface="Cambria"/>
              </a:rPr>
              <a:t>hybrid</a:t>
            </a:r>
            <a:r>
              <a:rPr sz="3250" spc="-20" dirty="0">
                <a:latin typeface="Cambria"/>
                <a:cs typeface="Cambria"/>
              </a:rPr>
              <a:t> </a:t>
            </a:r>
            <a:r>
              <a:rPr sz="3250" spc="-45" dirty="0">
                <a:latin typeface="Cambria"/>
                <a:cs typeface="Cambria"/>
              </a:rPr>
              <a:t>approach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40" dirty="0">
                <a:latin typeface="Cambria"/>
                <a:cs typeface="Cambria"/>
              </a:rPr>
              <a:t>introduces</a:t>
            </a:r>
            <a:r>
              <a:rPr sz="3250" spc="-15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an</a:t>
            </a:r>
            <a:r>
              <a:rPr sz="3250" spc="-165" dirty="0">
                <a:latin typeface="Cambria"/>
                <a:cs typeface="Cambria"/>
              </a:rPr>
              <a:t> </a:t>
            </a:r>
            <a:r>
              <a:rPr sz="3250" spc="-10" dirty="0">
                <a:latin typeface="Cambria"/>
                <a:cs typeface="Cambria"/>
              </a:rPr>
              <a:t>‘Editor’ </a:t>
            </a:r>
            <a:r>
              <a:rPr sz="3250" spc="-20" dirty="0">
                <a:latin typeface="Cambria"/>
                <a:cs typeface="Cambria"/>
              </a:rPr>
              <a:t>model</a:t>
            </a:r>
            <a:r>
              <a:rPr sz="3250" spc="-160" dirty="0">
                <a:latin typeface="Cambria"/>
                <a:cs typeface="Cambria"/>
              </a:rPr>
              <a:t> </a:t>
            </a:r>
            <a:r>
              <a:rPr sz="3250" spc="-190" dirty="0">
                <a:latin typeface="Cambria"/>
                <a:cs typeface="Cambria"/>
              </a:rPr>
              <a:t>(T5)</a:t>
            </a:r>
            <a:r>
              <a:rPr sz="3250" spc="15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to</a:t>
            </a:r>
            <a:r>
              <a:rPr sz="3250" spc="-180" dirty="0">
                <a:latin typeface="Cambria"/>
                <a:cs typeface="Cambria"/>
              </a:rPr>
              <a:t> </a:t>
            </a:r>
            <a:r>
              <a:rPr sz="3250" spc="-70" dirty="0">
                <a:latin typeface="Cambria"/>
                <a:cs typeface="Cambria"/>
              </a:rPr>
              <a:t>standardize</a:t>
            </a:r>
            <a:r>
              <a:rPr sz="3250" spc="-25" dirty="0">
                <a:latin typeface="Cambria"/>
                <a:cs typeface="Cambria"/>
              </a:rPr>
              <a:t> input</a:t>
            </a:r>
            <a:r>
              <a:rPr sz="3250" spc="-65" dirty="0">
                <a:latin typeface="Cambria"/>
                <a:cs typeface="Cambria"/>
              </a:rPr>
              <a:t> </a:t>
            </a:r>
            <a:r>
              <a:rPr sz="3250" spc="-40" dirty="0">
                <a:latin typeface="Cambria"/>
                <a:cs typeface="Cambria"/>
              </a:rPr>
              <a:t>before</a:t>
            </a:r>
            <a:r>
              <a:rPr sz="3250" spc="-30" dirty="0">
                <a:latin typeface="Cambria"/>
                <a:cs typeface="Cambria"/>
              </a:rPr>
              <a:t> </a:t>
            </a:r>
            <a:r>
              <a:rPr sz="3250" dirty="0">
                <a:latin typeface="Cambria"/>
                <a:cs typeface="Cambria"/>
              </a:rPr>
              <a:t>the</a:t>
            </a:r>
            <a:r>
              <a:rPr sz="3250" spc="-155" dirty="0">
                <a:latin typeface="Cambria"/>
                <a:cs typeface="Cambria"/>
              </a:rPr>
              <a:t> </a:t>
            </a:r>
            <a:r>
              <a:rPr sz="3250" spc="-65" dirty="0">
                <a:latin typeface="Cambria"/>
                <a:cs typeface="Cambria"/>
              </a:rPr>
              <a:t>‘Translator’</a:t>
            </a:r>
            <a:r>
              <a:rPr sz="3250" spc="25" dirty="0">
                <a:latin typeface="Cambria"/>
                <a:cs typeface="Cambria"/>
              </a:rPr>
              <a:t> </a:t>
            </a:r>
            <a:r>
              <a:rPr sz="3250" spc="-45" dirty="0">
                <a:latin typeface="Cambria"/>
                <a:cs typeface="Cambria"/>
              </a:rPr>
              <a:t>model</a:t>
            </a:r>
            <a:r>
              <a:rPr sz="3250" spc="-135" dirty="0">
                <a:latin typeface="Cambria"/>
                <a:cs typeface="Cambria"/>
              </a:rPr>
              <a:t> </a:t>
            </a:r>
            <a:r>
              <a:rPr sz="3250" spc="-85" dirty="0">
                <a:latin typeface="Cambria"/>
                <a:cs typeface="Cambria"/>
              </a:rPr>
              <a:t>(NLLB)</a:t>
            </a:r>
            <a:r>
              <a:rPr sz="3250" spc="-95" dirty="0">
                <a:latin typeface="Cambria"/>
                <a:cs typeface="Cambria"/>
              </a:rPr>
              <a:t> </a:t>
            </a:r>
            <a:r>
              <a:rPr sz="3250" spc="-40" dirty="0">
                <a:latin typeface="Cambria"/>
                <a:cs typeface="Cambria"/>
              </a:rPr>
              <a:t>processes</a:t>
            </a:r>
            <a:r>
              <a:rPr sz="3250" spc="-45" dirty="0">
                <a:latin typeface="Cambria"/>
                <a:cs typeface="Cambria"/>
              </a:rPr>
              <a:t> </a:t>
            </a:r>
            <a:r>
              <a:rPr sz="3250" spc="-25" dirty="0">
                <a:latin typeface="Cambria"/>
                <a:cs typeface="Cambria"/>
              </a:rPr>
              <a:t>it.</a:t>
            </a:r>
            <a:endParaRPr sz="32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500" y="2628900"/>
            <a:ext cx="7708900" cy="5461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5273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05"/>
              </a:spcBef>
            </a:pPr>
            <a:r>
              <a:rPr spc="-130" dirty="0">
                <a:solidFill>
                  <a:srgbClr val="333333"/>
                </a:solidFill>
              </a:rPr>
              <a:t>Deep</a:t>
            </a:r>
            <a:r>
              <a:rPr spc="-150" dirty="0">
                <a:solidFill>
                  <a:srgbClr val="333333"/>
                </a:solidFill>
              </a:rPr>
              <a:t> </a:t>
            </a:r>
            <a:r>
              <a:rPr spc="-300" dirty="0">
                <a:solidFill>
                  <a:srgbClr val="2D2D2D"/>
                </a:solidFill>
              </a:rPr>
              <a:t>Dive</a:t>
            </a:r>
            <a:r>
              <a:rPr spc="-65" dirty="0">
                <a:solidFill>
                  <a:srgbClr val="2D2D2D"/>
                </a:solidFill>
              </a:rPr>
              <a:t> </a:t>
            </a:r>
            <a:r>
              <a:rPr spc="-405" dirty="0">
                <a:solidFill>
                  <a:srgbClr val="343434"/>
                </a:solidFill>
              </a:rPr>
              <a:t>I:</a:t>
            </a:r>
            <a:r>
              <a:rPr spc="-290" dirty="0">
                <a:solidFill>
                  <a:srgbClr val="343434"/>
                </a:solidFill>
              </a:rPr>
              <a:t> </a:t>
            </a:r>
            <a:r>
              <a:rPr spc="-365" dirty="0">
                <a:solidFill>
                  <a:srgbClr val="333333"/>
                </a:solidFill>
              </a:rPr>
              <a:t>Grammar</a:t>
            </a:r>
            <a:r>
              <a:rPr spc="45" dirty="0">
                <a:solidFill>
                  <a:srgbClr val="333333"/>
                </a:solidFill>
              </a:rPr>
              <a:t> </a:t>
            </a:r>
            <a:r>
              <a:rPr spc="-270" dirty="0"/>
              <a:t>Correction(T5)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6922" y="8161866"/>
            <a:ext cx="404876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5" dirty="0">
                <a:latin typeface="Courier New"/>
                <a:cs typeface="Courier New"/>
              </a:rPr>
              <a:t>fix</a:t>
            </a:r>
            <a:r>
              <a:rPr sz="2050" spc="-285" dirty="0">
                <a:latin typeface="Courier New"/>
                <a:cs typeface="Courier New"/>
              </a:rPr>
              <a:t> </a:t>
            </a:r>
            <a:r>
              <a:rPr sz="2050" spc="-105" dirty="0">
                <a:latin typeface="Courier New"/>
                <a:cs typeface="Courier New"/>
              </a:rPr>
              <a:t>grammar:</a:t>
            </a:r>
            <a:r>
              <a:rPr sz="2050" spc="-120" dirty="0">
                <a:latin typeface="Courier New"/>
                <a:cs typeface="Courier New"/>
              </a:rPr>
              <a:t> </a:t>
            </a:r>
            <a:r>
              <a:rPr sz="2050" dirty="0">
                <a:solidFill>
                  <a:srgbClr val="0F0F0F"/>
                </a:solidFill>
                <a:latin typeface="Courier New"/>
                <a:cs typeface="Courier New"/>
              </a:rPr>
              <a:t>i</a:t>
            </a:r>
            <a:r>
              <a:rPr sz="2050" spc="-305" dirty="0">
                <a:solidFill>
                  <a:srgbClr val="0F0F0F"/>
                </a:solidFill>
                <a:latin typeface="Courier New"/>
                <a:cs typeface="Courier New"/>
              </a:rPr>
              <a:t> </a:t>
            </a:r>
            <a:r>
              <a:rPr sz="2050" spc="-65" dirty="0">
                <a:latin typeface="Courier New"/>
                <a:cs typeface="Courier New"/>
              </a:rPr>
              <a:t>am</a:t>
            </a:r>
            <a:r>
              <a:rPr sz="2050" spc="-245" dirty="0">
                <a:latin typeface="Courier New"/>
                <a:cs typeface="Courier New"/>
              </a:rPr>
              <a:t> </a:t>
            </a:r>
            <a:r>
              <a:rPr sz="2050" spc="-90" dirty="0">
                <a:latin typeface="Courier New"/>
                <a:cs typeface="Courier New"/>
              </a:rPr>
              <a:t>studing</a:t>
            </a:r>
            <a:r>
              <a:rPr sz="2050" spc="-135" dirty="0">
                <a:latin typeface="Courier New"/>
                <a:cs typeface="Courier New"/>
              </a:rPr>
              <a:t> </a:t>
            </a:r>
            <a:r>
              <a:rPr sz="2050" spc="-25" dirty="0">
                <a:latin typeface="Courier New"/>
                <a:cs typeface="Courier New"/>
              </a:rPr>
              <a:t>AI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30978" y="8161866"/>
            <a:ext cx="245046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dirty="0">
                <a:latin typeface="Consolas"/>
                <a:cs typeface="Consolas"/>
              </a:rPr>
              <a:t>I</a:t>
            </a:r>
            <a:r>
              <a:rPr sz="2050" spc="-5" dirty="0">
                <a:latin typeface="Consolas"/>
                <a:cs typeface="Consolas"/>
              </a:rPr>
              <a:t> </a:t>
            </a:r>
            <a:r>
              <a:rPr sz="2050" dirty="0">
                <a:latin typeface="Consolas"/>
                <a:cs typeface="Consolas"/>
              </a:rPr>
              <a:t>am</a:t>
            </a:r>
            <a:r>
              <a:rPr sz="2050" spc="-135" dirty="0">
                <a:latin typeface="Consolas"/>
                <a:cs typeface="Consolas"/>
              </a:rPr>
              <a:t> </a:t>
            </a:r>
            <a:r>
              <a:rPr sz="2050" dirty="0">
                <a:latin typeface="Consolas"/>
                <a:cs typeface="Consolas"/>
              </a:rPr>
              <a:t>studying</a:t>
            </a:r>
            <a:r>
              <a:rPr sz="2050" spc="110" dirty="0">
                <a:latin typeface="Consolas"/>
                <a:cs typeface="Consolas"/>
              </a:rPr>
              <a:t> </a:t>
            </a:r>
            <a:r>
              <a:rPr sz="2050" spc="-25" dirty="0">
                <a:latin typeface="Consolas"/>
                <a:cs typeface="Consolas"/>
              </a:rPr>
              <a:t>AI.</a:t>
            </a:r>
            <a:endParaRPr sz="20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94784" y="2197805"/>
            <a:ext cx="6682105" cy="5655310"/>
          </a:xfrm>
          <a:prstGeom prst="rect">
            <a:avLst/>
          </a:prstGeom>
        </p:spPr>
        <p:txBody>
          <a:bodyPr vert="horz" wrap="square" lIns="0" tIns="297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45"/>
              </a:spcBef>
            </a:pPr>
            <a:r>
              <a:rPr sz="4300" spc="-130" dirty="0">
                <a:solidFill>
                  <a:srgbClr val="2B2B2B"/>
                </a:solidFill>
                <a:latin typeface="Arial MT"/>
                <a:cs typeface="Arial MT"/>
              </a:rPr>
              <a:t>The</a:t>
            </a:r>
            <a:r>
              <a:rPr sz="4300" spc="-28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4300" spc="-45" dirty="0">
                <a:solidFill>
                  <a:srgbClr val="2D2D2D"/>
                </a:solidFill>
                <a:latin typeface="Arial MT"/>
                <a:cs typeface="Arial MT"/>
              </a:rPr>
              <a:t>Editor</a:t>
            </a:r>
            <a:r>
              <a:rPr sz="4300" spc="-24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4300" spc="-10" dirty="0">
                <a:solidFill>
                  <a:srgbClr val="2F2F2F"/>
                </a:solidFill>
                <a:latin typeface="Arial MT"/>
                <a:cs typeface="Arial MT"/>
              </a:rPr>
              <a:t>Brain</a:t>
            </a:r>
            <a:endParaRPr sz="4300">
              <a:latin typeface="Arial MT"/>
              <a:cs typeface="Arial MT"/>
            </a:endParaRPr>
          </a:p>
          <a:p>
            <a:pPr marL="485775" marR="450215" indent="-310515">
              <a:lnSpc>
                <a:spcPct val="112999"/>
              </a:lnSpc>
              <a:spcBef>
                <a:spcPts val="1130"/>
              </a:spcBef>
              <a:buChar char="•"/>
              <a:tabLst>
                <a:tab pos="501015" algn="l"/>
                <a:tab pos="2807970" algn="l"/>
              </a:tabLst>
            </a:pPr>
            <a:r>
              <a:rPr sz="2950" dirty="0">
                <a:latin typeface="Cambria"/>
                <a:cs typeface="Cambria"/>
              </a:rPr>
              <a:t>Model:</a:t>
            </a:r>
            <a:r>
              <a:rPr sz="2950" spc="150" dirty="0">
                <a:latin typeface="Cambria"/>
                <a:cs typeface="Cambria"/>
              </a:rPr>
              <a:t> </a:t>
            </a:r>
            <a:r>
              <a:rPr sz="2950" spc="-165" dirty="0">
                <a:solidFill>
                  <a:srgbClr val="5E3426"/>
                </a:solidFill>
                <a:latin typeface="Cambria"/>
                <a:cs typeface="Cambria"/>
              </a:rPr>
              <a:t>ven</a:t>
            </a:r>
            <a:r>
              <a:rPr sz="2950" spc="-260" dirty="0">
                <a:solidFill>
                  <a:srgbClr val="5E3426"/>
                </a:solidFill>
                <a:latin typeface="Cambria"/>
                <a:cs typeface="Cambria"/>
              </a:rPr>
              <a:t> </a:t>
            </a:r>
            <a:r>
              <a:rPr sz="2950" spc="229" dirty="0">
                <a:solidFill>
                  <a:srgbClr val="603F2F"/>
                </a:solidFill>
                <a:latin typeface="Cambria"/>
                <a:cs typeface="Cambria"/>
              </a:rPr>
              <a:t>nify/t5</a:t>
            </a:r>
            <a:r>
              <a:rPr sz="2950" spc="229" dirty="0">
                <a:solidFill>
                  <a:srgbClr val="9E7466"/>
                </a:solidFill>
                <a:latin typeface="Cambria"/>
                <a:cs typeface="Cambria"/>
              </a:rPr>
              <a:t>-</a:t>
            </a:r>
            <a:r>
              <a:rPr sz="2950" spc="-315" dirty="0">
                <a:solidFill>
                  <a:srgbClr val="9E7466"/>
                </a:solidFill>
                <a:latin typeface="Cambria"/>
                <a:cs typeface="Cambria"/>
              </a:rPr>
              <a:t> </a:t>
            </a:r>
            <a:r>
              <a:rPr sz="2950" spc="-40" dirty="0">
                <a:solidFill>
                  <a:srgbClr val="7C4D3D"/>
                </a:solidFill>
                <a:latin typeface="Cambria"/>
                <a:cs typeface="Cambria"/>
              </a:rPr>
              <a:t>base</a:t>
            </a:r>
            <a:r>
              <a:rPr sz="2950" spc="-185" dirty="0">
                <a:solidFill>
                  <a:srgbClr val="7C4D3D"/>
                </a:solidFill>
                <a:latin typeface="Cambria"/>
                <a:cs typeface="Cambria"/>
              </a:rPr>
              <a:t> </a:t>
            </a:r>
            <a:r>
              <a:rPr sz="2950" dirty="0">
                <a:solidFill>
                  <a:srgbClr val="9C7564"/>
                </a:solidFill>
                <a:latin typeface="Cambria"/>
                <a:cs typeface="Cambria"/>
              </a:rPr>
              <a:t>-</a:t>
            </a:r>
            <a:r>
              <a:rPr sz="2950" spc="-290" dirty="0">
                <a:solidFill>
                  <a:srgbClr val="9C7564"/>
                </a:solidFill>
                <a:latin typeface="Cambria"/>
                <a:cs typeface="Cambria"/>
              </a:rPr>
              <a:t> </a:t>
            </a:r>
            <a:r>
              <a:rPr sz="2950" spc="-40" dirty="0">
                <a:solidFill>
                  <a:srgbClr val="896D5E"/>
                </a:solidFill>
                <a:latin typeface="Cambria"/>
                <a:cs typeface="Cambria"/>
              </a:rPr>
              <a:t>gza+oa</a:t>
            </a:r>
            <a:r>
              <a:rPr sz="2950" spc="-290" dirty="0">
                <a:solidFill>
                  <a:srgbClr val="896D5E"/>
                </a:solidFill>
                <a:latin typeface="Cambria"/>
                <a:cs typeface="Cambria"/>
              </a:rPr>
              <a:t> </a:t>
            </a:r>
            <a:r>
              <a:rPr sz="2950" spc="-45" dirty="0">
                <a:solidFill>
                  <a:srgbClr val="66382A"/>
                </a:solidFill>
                <a:latin typeface="Cambria"/>
                <a:cs typeface="Cambria"/>
              </a:rPr>
              <a:t>r</a:t>
            </a:r>
            <a:r>
              <a:rPr sz="2950" spc="-180" dirty="0">
                <a:solidFill>
                  <a:srgbClr val="66382A"/>
                </a:solidFill>
                <a:latin typeface="Cambria"/>
                <a:cs typeface="Cambria"/>
              </a:rPr>
              <a:t> </a:t>
            </a:r>
            <a:r>
              <a:rPr sz="2950" spc="-50" dirty="0">
                <a:solidFill>
                  <a:srgbClr val="997266"/>
                </a:solidFill>
                <a:latin typeface="Cambria"/>
                <a:cs typeface="Cambria"/>
              </a:rPr>
              <a:t>- 	</a:t>
            </a:r>
            <a:r>
              <a:rPr sz="2950" spc="150" dirty="0">
                <a:solidFill>
                  <a:srgbClr val="6D4234"/>
                </a:solidFill>
                <a:latin typeface="Cambria"/>
                <a:cs typeface="Cambria"/>
              </a:rPr>
              <a:t>correction</a:t>
            </a:r>
            <a:r>
              <a:rPr sz="2950" spc="275" dirty="0">
                <a:solidFill>
                  <a:srgbClr val="6D4234"/>
                </a:solidFill>
                <a:latin typeface="Cambria"/>
                <a:cs typeface="Cambria"/>
              </a:rPr>
              <a:t> </a:t>
            </a:r>
            <a:r>
              <a:rPr sz="2950" spc="-50" dirty="0">
                <a:latin typeface="Cambria"/>
                <a:cs typeface="Cambria"/>
              </a:rPr>
              <a:t>(</a:t>
            </a:r>
            <a:r>
              <a:rPr sz="2950" dirty="0">
                <a:latin typeface="Cambria"/>
                <a:cs typeface="Cambria"/>
              </a:rPr>
              <a:t>	</a:t>
            </a:r>
            <a:r>
              <a:rPr sz="2950" spc="-195" dirty="0">
                <a:latin typeface="Cambria"/>
                <a:cs typeface="Cambria"/>
              </a:rPr>
              <a:t>220M</a:t>
            </a:r>
            <a:r>
              <a:rPr sz="2950" spc="5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Params).</a:t>
            </a:r>
            <a:endParaRPr sz="2950">
              <a:latin typeface="Cambria"/>
              <a:cs typeface="Cambria"/>
            </a:endParaRPr>
          </a:p>
          <a:p>
            <a:pPr marL="485140" indent="-310515">
              <a:lnSpc>
                <a:spcPct val="100000"/>
              </a:lnSpc>
              <a:spcBef>
                <a:spcPts val="359"/>
              </a:spcBef>
              <a:buChar char="•"/>
              <a:tabLst>
                <a:tab pos="485140" algn="l"/>
              </a:tabLst>
            </a:pPr>
            <a:r>
              <a:rPr sz="3050" spc="-55" dirty="0">
                <a:latin typeface="Cambria"/>
                <a:cs typeface="Cambria"/>
              </a:rPr>
              <a:t>Concept:</a:t>
            </a:r>
            <a:r>
              <a:rPr sz="3050" spc="-125" dirty="0">
                <a:latin typeface="Cambria"/>
                <a:cs typeface="Cambria"/>
              </a:rPr>
              <a:t> </a:t>
            </a:r>
            <a:r>
              <a:rPr sz="3050" spc="-215" dirty="0">
                <a:latin typeface="Cambria"/>
                <a:cs typeface="Cambria"/>
              </a:rPr>
              <a:t>Text-</a:t>
            </a:r>
            <a:r>
              <a:rPr sz="3050" spc="-195" dirty="0">
                <a:latin typeface="Cambria"/>
                <a:cs typeface="Cambria"/>
              </a:rPr>
              <a:t>to-</a:t>
            </a:r>
            <a:r>
              <a:rPr sz="3050" spc="-145" dirty="0">
                <a:latin typeface="Cambria"/>
                <a:cs typeface="Cambria"/>
              </a:rPr>
              <a:t>Text</a:t>
            </a:r>
            <a:r>
              <a:rPr sz="3050" spc="6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Transfer</a:t>
            </a:r>
            <a:endParaRPr sz="3050">
              <a:latin typeface="Cambria"/>
              <a:cs typeface="Cambria"/>
            </a:endParaRPr>
          </a:p>
          <a:p>
            <a:pPr marL="483234">
              <a:lnSpc>
                <a:spcPct val="100000"/>
              </a:lnSpc>
              <a:spcBef>
                <a:spcPts val="439"/>
              </a:spcBef>
            </a:pPr>
            <a:r>
              <a:rPr sz="2900" spc="-10" dirty="0">
                <a:latin typeface="Cambria"/>
                <a:cs typeface="Cambria"/>
              </a:rPr>
              <a:t>Transformer.</a:t>
            </a:r>
            <a:endParaRPr sz="2900">
              <a:latin typeface="Cambria"/>
              <a:cs typeface="Cambria"/>
            </a:endParaRPr>
          </a:p>
          <a:p>
            <a:pPr marL="328930" marR="5080" indent="1270">
              <a:lnSpc>
                <a:spcPct val="109400"/>
              </a:lnSpc>
              <a:spcBef>
                <a:spcPts val="85"/>
              </a:spcBef>
              <a:tabLst>
                <a:tab pos="2291715" algn="l"/>
                <a:tab pos="2847340" algn="l"/>
              </a:tabLst>
            </a:pPr>
            <a:r>
              <a:rPr sz="2950" dirty="0">
                <a:latin typeface="Cambria"/>
                <a:cs typeface="Cambria"/>
              </a:rPr>
              <a:t>The</a:t>
            </a:r>
            <a:r>
              <a:rPr sz="2950" spc="-145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Logic:</a:t>
            </a:r>
            <a:r>
              <a:rPr sz="2950" spc="-120" dirty="0">
                <a:latin typeface="Cambria"/>
                <a:cs typeface="Cambria"/>
              </a:rPr>
              <a:t> </a:t>
            </a:r>
            <a:r>
              <a:rPr sz="2950" spc="-75" dirty="0">
                <a:latin typeface="Cambria"/>
                <a:cs typeface="Cambria"/>
              </a:rPr>
              <a:t>TS</a:t>
            </a:r>
            <a:r>
              <a:rPr sz="2950" spc="-85" dirty="0">
                <a:latin typeface="Cambria"/>
                <a:cs typeface="Cambria"/>
              </a:rPr>
              <a:t> </a:t>
            </a:r>
            <a:r>
              <a:rPr sz="2950" spc="-80" dirty="0">
                <a:latin typeface="Cambria"/>
                <a:cs typeface="Cambria"/>
              </a:rPr>
              <a:t>treats</a:t>
            </a:r>
            <a:r>
              <a:rPr sz="2950" spc="-60" dirty="0">
                <a:latin typeface="Cambria"/>
                <a:cs typeface="Cambria"/>
              </a:rPr>
              <a:t> </a:t>
            </a:r>
            <a:r>
              <a:rPr sz="2950" spc="-80" dirty="0">
                <a:latin typeface="Cambria"/>
                <a:cs typeface="Cambria"/>
              </a:rPr>
              <a:t>every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dirty="0">
                <a:latin typeface="Cambria"/>
                <a:cs typeface="Cambria"/>
              </a:rPr>
              <a:t>NLP</a:t>
            </a:r>
            <a:r>
              <a:rPr sz="2950" spc="-20" dirty="0">
                <a:latin typeface="Cambria"/>
                <a:cs typeface="Cambria"/>
              </a:rPr>
              <a:t> </a:t>
            </a:r>
            <a:r>
              <a:rPr sz="2950" spc="-10" dirty="0">
                <a:latin typeface="Cambria"/>
                <a:cs typeface="Cambria"/>
              </a:rPr>
              <a:t>problem </a:t>
            </a:r>
            <a:r>
              <a:rPr sz="3050" spc="-105" dirty="0">
                <a:latin typeface="Cambria"/>
                <a:cs typeface="Cambria"/>
              </a:rPr>
              <a:t>as</a:t>
            </a:r>
            <a:r>
              <a:rPr sz="3050" spc="-90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a</a:t>
            </a:r>
            <a:r>
              <a:rPr sz="3050" spc="-170" dirty="0">
                <a:latin typeface="Cambria"/>
                <a:cs typeface="Cambria"/>
              </a:rPr>
              <a:t> </a:t>
            </a:r>
            <a:r>
              <a:rPr sz="3050" spc="-155" dirty="0">
                <a:latin typeface="Cambria"/>
                <a:cs typeface="Cambria"/>
              </a:rPr>
              <a:t>text</a:t>
            </a:r>
            <a:r>
              <a:rPr sz="3050" spc="-10" dirty="0">
                <a:latin typeface="Cambria"/>
                <a:cs typeface="Cambria"/>
              </a:rPr>
              <a:t> </a:t>
            </a:r>
            <a:r>
              <a:rPr sz="3050" spc="-110" dirty="0">
                <a:latin typeface="Cambria"/>
                <a:cs typeface="Cambria"/>
              </a:rPr>
              <a:t>generation</a:t>
            </a:r>
            <a:r>
              <a:rPr sz="3050" spc="-20" dirty="0">
                <a:latin typeface="Cambria"/>
                <a:cs typeface="Cambria"/>
              </a:rPr>
              <a:t> </a:t>
            </a:r>
            <a:r>
              <a:rPr sz="3050" spc="-85" dirty="0">
                <a:latin typeface="Cambria"/>
                <a:cs typeface="Cambria"/>
              </a:rPr>
              <a:t>task.</a:t>
            </a:r>
            <a:r>
              <a:rPr sz="3050" spc="-105" dirty="0">
                <a:latin typeface="Cambria"/>
                <a:cs typeface="Cambria"/>
              </a:rPr>
              <a:t> </a:t>
            </a:r>
            <a:r>
              <a:rPr sz="3050" spc="-50" dirty="0">
                <a:latin typeface="Cambria"/>
                <a:cs typeface="Cambria"/>
              </a:rPr>
              <a:t>By</a:t>
            </a:r>
            <a:r>
              <a:rPr sz="3050" spc="-95" dirty="0">
                <a:latin typeface="Cambria"/>
                <a:cs typeface="Cambria"/>
              </a:rPr>
              <a:t> </a:t>
            </a:r>
            <a:r>
              <a:rPr sz="3050" spc="-85" dirty="0">
                <a:latin typeface="Cambria"/>
                <a:cs typeface="Cambria"/>
              </a:rPr>
              <a:t>prefixing</a:t>
            </a:r>
            <a:r>
              <a:rPr sz="3050" spc="45" dirty="0">
                <a:latin typeface="Cambria"/>
                <a:cs typeface="Cambria"/>
              </a:rPr>
              <a:t> </a:t>
            </a:r>
            <a:r>
              <a:rPr sz="3050" spc="-40" dirty="0">
                <a:latin typeface="Cambria"/>
                <a:cs typeface="Cambria"/>
              </a:rPr>
              <a:t>the </a:t>
            </a:r>
            <a:r>
              <a:rPr sz="3100" spc="-170" dirty="0">
                <a:latin typeface="Cambria"/>
                <a:cs typeface="Cambria"/>
              </a:rPr>
              <a:t>input</a:t>
            </a:r>
            <a:r>
              <a:rPr sz="3100" spc="25" dirty="0">
                <a:latin typeface="Cambria"/>
                <a:cs typeface="Cambria"/>
              </a:rPr>
              <a:t> </a:t>
            </a:r>
            <a:r>
              <a:rPr sz="3100" spc="-175" dirty="0">
                <a:latin typeface="Cambria"/>
                <a:cs typeface="Cambria"/>
              </a:rPr>
              <a:t>with</a:t>
            </a:r>
            <a:r>
              <a:rPr sz="3100" spc="-60" dirty="0">
                <a:latin typeface="Cambria"/>
                <a:cs typeface="Cambria"/>
              </a:rPr>
              <a:t> </a:t>
            </a:r>
            <a:r>
              <a:rPr sz="3100" spc="250" dirty="0">
                <a:latin typeface="Cambria"/>
                <a:cs typeface="Cambria"/>
              </a:rPr>
              <a:t>'lix</a:t>
            </a:r>
            <a:r>
              <a:rPr sz="3100" dirty="0">
                <a:latin typeface="Cambria"/>
                <a:cs typeface="Cambria"/>
              </a:rPr>
              <a:t>	</a:t>
            </a:r>
            <a:r>
              <a:rPr sz="3100" spc="60" dirty="0">
                <a:solidFill>
                  <a:srgbClr val="875949"/>
                </a:solidFill>
                <a:latin typeface="Cambria"/>
                <a:cs typeface="Cambria"/>
              </a:rPr>
              <a:t>gra++ar</a:t>
            </a:r>
            <a:r>
              <a:rPr sz="3100" spc="60" dirty="0">
                <a:solidFill>
                  <a:srgbClr val="976756"/>
                </a:solidFill>
                <a:latin typeface="Cambria"/>
                <a:cs typeface="Cambria"/>
              </a:rPr>
              <a:t>:</a:t>
            </a:r>
            <a:r>
              <a:rPr sz="3100" spc="60" dirty="0">
                <a:latin typeface="Cambria"/>
                <a:cs typeface="Cambria"/>
              </a:rPr>
              <a:t>’,</a:t>
            </a:r>
            <a:r>
              <a:rPr sz="3100" spc="-20" dirty="0">
                <a:latin typeface="Cambria"/>
                <a:cs typeface="Cambria"/>
              </a:rPr>
              <a:t> </a:t>
            </a:r>
            <a:r>
              <a:rPr sz="3100" spc="-300" dirty="0">
                <a:latin typeface="Cambria"/>
                <a:cs typeface="Cambria"/>
              </a:rPr>
              <a:t>we</a:t>
            </a:r>
            <a:r>
              <a:rPr sz="3100" spc="15" dirty="0">
                <a:latin typeface="Cambria"/>
                <a:cs typeface="Cambria"/>
              </a:rPr>
              <a:t> </a:t>
            </a:r>
            <a:r>
              <a:rPr sz="3100" spc="-45" dirty="0">
                <a:latin typeface="Cambria"/>
                <a:cs typeface="Cambria"/>
              </a:rPr>
              <a:t>leverage </a:t>
            </a:r>
            <a:r>
              <a:rPr sz="3050" spc="-135" dirty="0">
                <a:latin typeface="Cambria"/>
                <a:cs typeface="Cambria"/>
              </a:rPr>
              <a:t>pre-</a:t>
            </a:r>
            <a:r>
              <a:rPr sz="3050" spc="-10" dirty="0">
                <a:latin typeface="Cambria"/>
                <a:cs typeface="Cambria"/>
              </a:rPr>
              <a:t>training</a:t>
            </a:r>
            <a:r>
              <a:rPr sz="3050" dirty="0">
                <a:latin typeface="Cambria"/>
                <a:cs typeface="Cambria"/>
              </a:rPr>
              <a:t>	</a:t>
            </a:r>
            <a:r>
              <a:rPr sz="3050" spc="-130" dirty="0">
                <a:latin typeface="Cambria"/>
                <a:cs typeface="Cambria"/>
              </a:rPr>
              <a:t>to</a:t>
            </a:r>
            <a:r>
              <a:rPr sz="3050" spc="-100" dirty="0">
                <a:latin typeface="Cambria"/>
                <a:cs typeface="Cambria"/>
              </a:rPr>
              <a:t> </a:t>
            </a:r>
            <a:r>
              <a:rPr sz="3050" spc="-120" dirty="0">
                <a:latin typeface="Cambria"/>
                <a:cs typeface="Cambria"/>
              </a:rPr>
              <a:t>standardize</a:t>
            </a:r>
            <a:r>
              <a:rPr sz="3050" spc="50" dirty="0">
                <a:latin typeface="Cambria"/>
                <a:cs typeface="Cambria"/>
              </a:rPr>
              <a:t> </a:t>
            </a:r>
            <a:r>
              <a:rPr sz="3050" spc="-50" dirty="0">
                <a:latin typeface="Cambria"/>
                <a:cs typeface="Cambria"/>
              </a:rPr>
              <a:t>punctuation </a:t>
            </a:r>
            <a:r>
              <a:rPr sz="2900" dirty="0">
                <a:latin typeface="Cambria"/>
                <a:cs typeface="Cambria"/>
              </a:rPr>
              <a:t>and</a:t>
            </a:r>
            <a:r>
              <a:rPr sz="2900" spc="-15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capitalization.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4874" y="7830960"/>
            <a:ext cx="6208395" cy="1041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 marR="5080" indent="-3175">
              <a:lnSpc>
                <a:spcPct val="109300"/>
              </a:lnSpc>
              <a:spcBef>
                <a:spcPts val="95"/>
              </a:spcBef>
            </a:pPr>
            <a:r>
              <a:rPr sz="3050" spc="-65" dirty="0">
                <a:latin typeface="Cambria"/>
                <a:cs typeface="Cambria"/>
              </a:rPr>
              <a:t>Impact:</a:t>
            </a:r>
            <a:r>
              <a:rPr sz="3050" spc="-80" dirty="0">
                <a:latin typeface="Cambria"/>
                <a:cs typeface="Cambria"/>
              </a:rPr>
              <a:t> </a:t>
            </a:r>
            <a:r>
              <a:rPr sz="3050" spc="-40" dirty="0">
                <a:latin typeface="Cambria"/>
                <a:cs typeface="Cambria"/>
              </a:rPr>
              <a:t>Clean</a:t>
            </a:r>
            <a:r>
              <a:rPr sz="3050" spc="-90" dirty="0">
                <a:latin typeface="Cambria"/>
                <a:cs typeface="Cambria"/>
              </a:rPr>
              <a:t> </a:t>
            </a:r>
            <a:r>
              <a:rPr sz="3050" spc="-114" dirty="0">
                <a:latin typeface="Cambria"/>
                <a:cs typeface="Cambria"/>
              </a:rPr>
              <a:t>Input</a:t>
            </a:r>
            <a:r>
              <a:rPr sz="3050" spc="-30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=</a:t>
            </a:r>
            <a:r>
              <a:rPr sz="3050" spc="-155" dirty="0">
                <a:latin typeface="Cambria"/>
                <a:cs typeface="Cambria"/>
              </a:rPr>
              <a:t> </a:t>
            </a:r>
            <a:r>
              <a:rPr sz="3050" spc="-150" dirty="0">
                <a:latin typeface="Cambria"/>
                <a:cs typeface="Cambria"/>
              </a:rPr>
              <a:t>Better</a:t>
            </a:r>
            <a:r>
              <a:rPr sz="3050" spc="-15" dirty="0">
                <a:latin typeface="Cambria"/>
                <a:cs typeface="Cambria"/>
              </a:rPr>
              <a:t> </a:t>
            </a:r>
            <a:r>
              <a:rPr sz="3050" spc="-135" dirty="0">
                <a:latin typeface="Cambria"/>
                <a:cs typeface="Cambria"/>
              </a:rPr>
              <a:t>Translation </a:t>
            </a:r>
            <a:r>
              <a:rPr sz="3050" spc="-105" dirty="0">
                <a:latin typeface="Cambria"/>
                <a:cs typeface="Cambria"/>
              </a:rPr>
              <a:t>cues</a:t>
            </a:r>
            <a:r>
              <a:rPr sz="3050" spc="-75" dirty="0">
                <a:latin typeface="Cambria"/>
                <a:cs typeface="Cambria"/>
              </a:rPr>
              <a:t> </a:t>
            </a:r>
            <a:r>
              <a:rPr sz="3050" spc="-105" dirty="0">
                <a:latin typeface="Cambria"/>
                <a:cs typeface="Cambria"/>
              </a:rPr>
              <a:t>for</a:t>
            </a:r>
            <a:r>
              <a:rPr sz="3050" spc="-60" dirty="0">
                <a:latin typeface="Cambria"/>
                <a:cs typeface="Cambria"/>
              </a:rPr>
              <a:t> </a:t>
            </a:r>
            <a:r>
              <a:rPr sz="3050" spc="-135" dirty="0">
                <a:latin typeface="Cambria"/>
                <a:cs typeface="Cambria"/>
              </a:rPr>
              <a:t>the</a:t>
            </a:r>
            <a:r>
              <a:rPr sz="3050" spc="-35" dirty="0">
                <a:latin typeface="Cambria"/>
                <a:cs typeface="Cambria"/>
              </a:rPr>
              <a:t> </a:t>
            </a:r>
            <a:r>
              <a:rPr sz="3050" spc="-155" dirty="0">
                <a:latin typeface="Cambria"/>
                <a:cs typeface="Cambria"/>
              </a:rPr>
              <a:t>downstream</a:t>
            </a:r>
            <a:r>
              <a:rPr sz="3050" spc="6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model.</a:t>
            </a:r>
            <a:endParaRPr sz="30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0900" y="1955800"/>
            <a:ext cx="7607300" cy="6972300"/>
          </a:xfrm>
          <a:prstGeom prst="rect">
            <a:avLst/>
          </a:prstGeom>
          <a:noFill/>
        </p:spPr>
      </p:pic>
      <p:sp>
        <p:nvSpPr>
          <p:cNvPr id="4" name="object 4"/>
          <p:cNvSpPr/>
          <p:nvPr/>
        </p:nvSpPr>
        <p:spPr>
          <a:xfrm>
            <a:off x="2717800" y="787400"/>
            <a:ext cx="1308100" cy="520700"/>
          </a:xfrm>
          <a:custGeom>
            <a:avLst/>
            <a:gdLst/>
            <a:ahLst/>
            <a:cxnLst/>
            <a:rect l="l" t="t" r="r" b="b"/>
            <a:pathLst>
              <a:path w="1308100" h="520700">
                <a:moveTo>
                  <a:pt x="1308100" y="520700"/>
                </a:moveTo>
                <a:lnTo>
                  <a:pt x="0" y="520700"/>
                </a:lnTo>
                <a:lnTo>
                  <a:pt x="0" y="0"/>
                </a:lnTo>
                <a:lnTo>
                  <a:pt x="1308100" y="0"/>
                </a:lnTo>
                <a:lnTo>
                  <a:pt x="1308100" y="5207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78400" y="812800"/>
            <a:ext cx="1981200" cy="495300"/>
          </a:xfrm>
          <a:custGeom>
            <a:avLst/>
            <a:gdLst/>
            <a:ahLst/>
            <a:cxnLst/>
            <a:rect l="l" t="t" r="r" b="b"/>
            <a:pathLst>
              <a:path w="1981200" h="495300">
                <a:moveTo>
                  <a:pt x="1981200" y="495300"/>
                </a:moveTo>
                <a:lnTo>
                  <a:pt x="0" y="495300"/>
                </a:lnTo>
                <a:lnTo>
                  <a:pt x="0" y="0"/>
                </a:lnTo>
                <a:lnTo>
                  <a:pt x="1981200" y="0"/>
                </a:lnTo>
                <a:lnTo>
                  <a:pt x="1981200" y="4953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13600" y="787400"/>
            <a:ext cx="2616200" cy="520700"/>
          </a:xfrm>
          <a:custGeom>
            <a:avLst/>
            <a:gdLst/>
            <a:ahLst/>
            <a:cxnLst/>
            <a:rect l="l" t="t" r="r" b="b"/>
            <a:pathLst>
              <a:path w="2616200" h="520700">
                <a:moveTo>
                  <a:pt x="2616200" y="520700"/>
                </a:moveTo>
                <a:lnTo>
                  <a:pt x="0" y="520700"/>
                </a:lnTo>
                <a:lnTo>
                  <a:pt x="0" y="0"/>
                </a:lnTo>
                <a:lnTo>
                  <a:pt x="2616200" y="0"/>
                </a:lnTo>
                <a:lnTo>
                  <a:pt x="2616200" y="5207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42400" y="2057400"/>
            <a:ext cx="787400" cy="342900"/>
          </a:xfrm>
          <a:custGeom>
            <a:avLst/>
            <a:gdLst/>
            <a:ahLst/>
            <a:cxnLst/>
            <a:rect l="l" t="t" r="r" b="b"/>
            <a:pathLst>
              <a:path w="787400" h="342900">
                <a:moveTo>
                  <a:pt x="787400" y="342900"/>
                </a:moveTo>
                <a:lnTo>
                  <a:pt x="0" y="342900"/>
                </a:lnTo>
                <a:lnTo>
                  <a:pt x="0" y="0"/>
                </a:lnTo>
                <a:lnTo>
                  <a:pt x="787400" y="0"/>
                </a:lnTo>
                <a:lnTo>
                  <a:pt x="787400" y="3429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042400" y="4622800"/>
            <a:ext cx="584200" cy="342900"/>
          </a:xfrm>
          <a:custGeom>
            <a:avLst/>
            <a:gdLst/>
            <a:ahLst/>
            <a:cxnLst/>
            <a:rect l="l" t="t" r="r" b="b"/>
            <a:pathLst>
              <a:path w="584200" h="342900">
                <a:moveTo>
                  <a:pt x="584200" y="342900"/>
                </a:moveTo>
                <a:lnTo>
                  <a:pt x="0" y="342900"/>
                </a:lnTo>
                <a:lnTo>
                  <a:pt x="0" y="0"/>
                </a:lnTo>
                <a:lnTo>
                  <a:pt x="584200" y="0"/>
                </a:lnTo>
                <a:lnTo>
                  <a:pt x="584200" y="3429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258300" y="5143500"/>
            <a:ext cx="177800" cy="177800"/>
            <a:chOff x="9258300" y="5143500"/>
            <a:chExt cx="177800" cy="177800"/>
          </a:xfrm>
          <a:noFill/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58300" y="5143500"/>
              <a:ext cx="177800" cy="177800"/>
            </a:xfrm>
            <a:prstGeom prst="rect">
              <a:avLst/>
            </a:prstGeom>
            <a:grpFill/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8300" y="5143500"/>
              <a:ext cx="177800" cy="177800"/>
            </a:xfrm>
            <a:prstGeom prst="rect">
              <a:avLst/>
            </a:prstGeom>
            <a:grpFill/>
          </p:spPr>
        </p:pic>
      </p:grpSp>
      <p:grpSp>
        <p:nvGrpSpPr>
          <p:cNvPr id="25" name="object 25"/>
          <p:cNvGrpSpPr/>
          <p:nvPr/>
        </p:nvGrpSpPr>
        <p:grpSpPr>
          <a:xfrm>
            <a:off x="9258300" y="5588000"/>
            <a:ext cx="177800" cy="177800"/>
            <a:chOff x="9258300" y="5588000"/>
            <a:chExt cx="177800" cy="177800"/>
          </a:xfrm>
          <a:noFill/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8300" y="5588000"/>
              <a:ext cx="177800" cy="177800"/>
            </a:xfrm>
            <a:prstGeom prst="rect">
              <a:avLst/>
            </a:prstGeom>
            <a:grpFill/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58300" y="5588000"/>
              <a:ext cx="177800" cy="177800"/>
            </a:xfrm>
            <a:prstGeom prst="rect">
              <a:avLst/>
            </a:prstGeom>
            <a:grpFill/>
          </p:spPr>
        </p:pic>
      </p:grpSp>
      <p:sp>
        <p:nvSpPr>
          <p:cNvPr id="28" name="object 28"/>
          <p:cNvSpPr/>
          <p:nvPr/>
        </p:nvSpPr>
        <p:spPr>
          <a:xfrm>
            <a:off x="9029700" y="5943600"/>
            <a:ext cx="7556500" cy="368300"/>
          </a:xfrm>
          <a:custGeom>
            <a:avLst/>
            <a:gdLst/>
            <a:ahLst/>
            <a:cxnLst/>
            <a:rect l="l" t="t" r="r" b="b"/>
            <a:pathLst>
              <a:path w="7556500" h="368300">
                <a:moveTo>
                  <a:pt x="7556500" y="368300"/>
                </a:moveTo>
                <a:lnTo>
                  <a:pt x="0" y="368300"/>
                </a:lnTo>
                <a:lnTo>
                  <a:pt x="0" y="0"/>
                </a:lnTo>
                <a:lnTo>
                  <a:pt x="7556500" y="0"/>
                </a:lnTo>
                <a:lnTo>
                  <a:pt x="7556500" y="3683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243410" y="5818363"/>
            <a:ext cx="7359015" cy="480695"/>
          </a:xfrm>
          <a:prstGeom prst="rect">
            <a:avLst/>
          </a:prstGeom>
          <a:noFill/>
        </p:spPr>
        <p:txBody>
          <a:bodyPr vert="horz" wrap="square" lIns="0" tIns="17145" rIns="0" bIns="0" rtlCol="0">
            <a:spAutoFit/>
          </a:bodyPr>
          <a:lstStyle/>
          <a:p>
            <a:pPr marL="584835" indent="-584835">
              <a:lnSpc>
                <a:spcPct val="100000"/>
              </a:lnSpc>
              <a:spcBef>
                <a:spcPts val="135"/>
              </a:spcBef>
              <a:buClr>
                <a:srgbClr val="EDEDED"/>
              </a:buClr>
              <a:buChar char="•"/>
              <a:tabLst>
                <a:tab pos="584835" algn="l"/>
              </a:tabLst>
            </a:pPr>
            <a:r>
              <a:rPr sz="2950" spc="-40" dirty="0">
                <a:solidFill>
                  <a:schemeClr val="tx1"/>
                </a:solidFill>
                <a:latin typeface="Cambria"/>
                <a:cs typeface="Cambria"/>
              </a:rPr>
              <a:t>Architecture:</a:t>
            </a:r>
            <a:r>
              <a:rPr sz="2950" spc="-6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30" dirty="0">
                <a:solidFill>
                  <a:schemeClr val="tx1"/>
                </a:solidFill>
                <a:latin typeface="Cambria"/>
                <a:cs typeface="Cambria"/>
              </a:rPr>
              <a:t>Distilled</a:t>
            </a:r>
            <a:r>
              <a:rPr sz="2950" spc="-3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150" dirty="0">
                <a:solidFill>
                  <a:schemeClr val="tx1"/>
                </a:solidFill>
                <a:latin typeface="Cambria"/>
                <a:cs typeface="Cambria"/>
              </a:rPr>
              <a:t>600M</a:t>
            </a:r>
            <a:r>
              <a:rPr sz="2950" spc="-1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65" dirty="0">
                <a:solidFill>
                  <a:schemeClr val="tx1"/>
                </a:solidFill>
                <a:latin typeface="Cambria"/>
                <a:cs typeface="Cambria"/>
              </a:rPr>
              <a:t>parameters</a:t>
            </a:r>
            <a:r>
              <a:rPr sz="2950" spc="11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60" dirty="0">
                <a:solidFill>
                  <a:schemeClr val="tx1"/>
                </a:solidFill>
                <a:latin typeface="Cambria"/>
                <a:cs typeface="Cambria"/>
              </a:rPr>
              <a:t>(vs</a:t>
            </a:r>
            <a:endParaRPr sz="295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042400" y="7048500"/>
            <a:ext cx="26797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70"/>
              </a:lnSpc>
            </a:pP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Why</a:t>
            </a:r>
            <a:r>
              <a:rPr sz="2950" spc="-14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10" dirty="0">
                <a:solidFill>
                  <a:schemeClr val="tx1"/>
                </a:solidFill>
                <a:latin typeface="Cambria"/>
                <a:cs typeface="Cambria"/>
              </a:rPr>
              <a:t>Distilled?</a:t>
            </a:r>
            <a:endParaRPr sz="2950">
              <a:solidFill>
                <a:schemeClr val="tx1"/>
              </a:solidFill>
              <a:latin typeface="Cambria"/>
              <a:cs typeface="Cambria"/>
            </a:endParaRPr>
          </a:p>
          <a:p>
            <a:pPr>
              <a:lnSpc>
                <a:spcPts val="3520"/>
              </a:lnSpc>
            </a:pP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Offers</a:t>
            </a:r>
            <a:r>
              <a:rPr sz="2950" spc="12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a</a:t>
            </a:r>
            <a:r>
              <a:rPr sz="2950" spc="-11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30" dirty="0">
                <a:solidFill>
                  <a:schemeClr val="tx1"/>
                </a:solidFill>
                <a:latin typeface="Cambria"/>
                <a:cs typeface="Cambria"/>
              </a:rPr>
              <a:t>strategic</a:t>
            </a:r>
            <a:endParaRPr sz="295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042400" y="7950200"/>
            <a:ext cx="7543800" cy="3462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0"/>
              </a:lnSpc>
            </a:pP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art</a:t>
            </a:r>
            <a:r>
              <a:rPr sz="2950" spc="-3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accuracy</a:t>
            </a:r>
            <a:r>
              <a:rPr sz="2950" spc="17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and</a:t>
            </a:r>
            <a:r>
              <a:rPr sz="2950" spc="-13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inference</a:t>
            </a:r>
            <a:r>
              <a:rPr sz="2950" spc="22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speed,</a:t>
            </a:r>
            <a:r>
              <a:rPr sz="2950" spc="13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10" dirty="0">
                <a:solidFill>
                  <a:schemeClr val="tx1"/>
                </a:solidFill>
                <a:latin typeface="Cambria"/>
                <a:cs typeface="Cambria"/>
              </a:rPr>
              <a:t>optimized</a:t>
            </a:r>
            <a:endParaRPr sz="295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42400" y="8394700"/>
            <a:ext cx="469900" cy="613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sz="3250" spc="-25" dirty="0">
                <a:solidFill>
                  <a:schemeClr val="tx1"/>
                </a:solidFill>
                <a:latin typeface="Times New Roman"/>
                <a:cs typeface="Times New Roman"/>
              </a:rPr>
              <a:t>for</a:t>
            </a:r>
            <a:endParaRPr sz="325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0045700" y="787400"/>
            <a:ext cx="3441700" cy="520700"/>
          </a:xfrm>
          <a:custGeom>
            <a:avLst/>
            <a:gdLst/>
            <a:ahLst/>
            <a:cxnLst/>
            <a:rect l="l" t="t" r="r" b="b"/>
            <a:pathLst>
              <a:path w="3441700" h="520700">
                <a:moveTo>
                  <a:pt x="3441700" y="520700"/>
                </a:moveTo>
                <a:lnTo>
                  <a:pt x="0" y="520700"/>
                </a:lnTo>
                <a:lnTo>
                  <a:pt x="0" y="0"/>
                </a:lnTo>
                <a:lnTo>
                  <a:pt x="3441700" y="0"/>
                </a:lnTo>
                <a:lnTo>
                  <a:pt x="3441700" y="5207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969500" y="2057400"/>
            <a:ext cx="2133600" cy="342900"/>
          </a:xfrm>
          <a:custGeom>
            <a:avLst/>
            <a:gdLst/>
            <a:ahLst/>
            <a:cxnLst/>
            <a:rect l="l" t="t" r="r" b="b"/>
            <a:pathLst>
              <a:path w="2133600" h="342900">
                <a:moveTo>
                  <a:pt x="2133600" y="342900"/>
                </a:moveTo>
                <a:lnTo>
                  <a:pt x="0" y="342900"/>
                </a:lnTo>
                <a:lnTo>
                  <a:pt x="0" y="0"/>
                </a:lnTo>
                <a:lnTo>
                  <a:pt x="2133600" y="0"/>
                </a:lnTo>
                <a:lnTo>
                  <a:pt x="2133600" y="3429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042400" y="2832100"/>
            <a:ext cx="1066800" cy="292100"/>
          </a:xfrm>
          <a:custGeom>
            <a:avLst/>
            <a:gdLst/>
            <a:ahLst/>
            <a:cxnLst/>
            <a:rect l="l" t="t" r="r" b="b"/>
            <a:pathLst>
              <a:path w="1066800" h="292100">
                <a:moveTo>
                  <a:pt x="10668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066800" y="0"/>
                </a:lnTo>
                <a:lnTo>
                  <a:pt x="1066800" y="2921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9042400" y="35052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1397000" y="355600"/>
                </a:moveTo>
                <a:lnTo>
                  <a:pt x="0" y="355600"/>
                </a:lnTo>
                <a:lnTo>
                  <a:pt x="0" y="0"/>
                </a:lnTo>
                <a:lnTo>
                  <a:pt x="1397000" y="0"/>
                </a:lnTo>
                <a:lnTo>
                  <a:pt x="1397000" y="3556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553700" y="3505200"/>
            <a:ext cx="3594100" cy="355600"/>
          </a:xfrm>
          <a:custGeom>
            <a:avLst/>
            <a:gdLst/>
            <a:ahLst/>
            <a:cxnLst/>
            <a:rect l="l" t="t" r="r" b="b"/>
            <a:pathLst>
              <a:path w="3594100" h="355600">
                <a:moveTo>
                  <a:pt x="3594100" y="355600"/>
                </a:moveTo>
                <a:lnTo>
                  <a:pt x="0" y="355600"/>
                </a:lnTo>
                <a:lnTo>
                  <a:pt x="0" y="0"/>
                </a:lnTo>
                <a:lnTo>
                  <a:pt x="3594100" y="0"/>
                </a:lnTo>
                <a:lnTo>
                  <a:pt x="3594100" y="3556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042400" y="3949700"/>
            <a:ext cx="1879600" cy="279400"/>
          </a:xfrm>
          <a:custGeom>
            <a:avLst/>
            <a:gdLst/>
            <a:ahLst/>
            <a:cxnLst/>
            <a:rect l="l" t="t" r="r" b="b"/>
            <a:pathLst>
              <a:path w="1879600" h="279400">
                <a:moveTo>
                  <a:pt x="18796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879600" y="0"/>
                </a:lnTo>
                <a:lnTo>
                  <a:pt x="1879600" y="2794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728200" y="4622800"/>
            <a:ext cx="977900" cy="342900"/>
          </a:xfrm>
          <a:custGeom>
            <a:avLst/>
            <a:gdLst/>
            <a:ahLst/>
            <a:cxnLst/>
            <a:rect l="l" t="t" r="r" b="b"/>
            <a:pathLst>
              <a:path w="977900" h="342900">
                <a:moveTo>
                  <a:pt x="977900" y="342900"/>
                </a:moveTo>
                <a:lnTo>
                  <a:pt x="0" y="342900"/>
                </a:lnTo>
                <a:lnTo>
                  <a:pt x="0" y="0"/>
                </a:lnTo>
                <a:lnTo>
                  <a:pt x="977900" y="0"/>
                </a:lnTo>
                <a:lnTo>
                  <a:pt x="977900" y="3429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829800" y="5054600"/>
            <a:ext cx="1905000" cy="355600"/>
          </a:xfrm>
          <a:custGeom>
            <a:avLst/>
            <a:gdLst/>
            <a:ahLst/>
            <a:cxnLst/>
            <a:rect l="l" t="t" r="r" b="b"/>
            <a:pathLst>
              <a:path w="1905000" h="355600">
                <a:moveTo>
                  <a:pt x="1905000" y="355600"/>
                </a:moveTo>
                <a:lnTo>
                  <a:pt x="0" y="355600"/>
                </a:lnTo>
                <a:lnTo>
                  <a:pt x="0" y="0"/>
                </a:lnTo>
                <a:lnTo>
                  <a:pt x="1905000" y="0"/>
                </a:lnTo>
                <a:lnTo>
                  <a:pt x="1905000" y="3556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829800" y="5521325"/>
            <a:ext cx="927100" cy="332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535"/>
              </a:lnSpc>
            </a:pPr>
            <a:r>
              <a:rPr sz="3050" spc="-10" dirty="0">
                <a:solidFill>
                  <a:schemeClr val="tx1"/>
                </a:solidFill>
                <a:latin typeface="Times New Roman"/>
                <a:cs typeface="Times New Roman"/>
              </a:rPr>
              <a:t>Script</a:t>
            </a:r>
            <a:endParaRPr sz="305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829800" y="6388100"/>
            <a:ext cx="787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780"/>
              </a:lnSpc>
            </a:pPr>
            <a:r>
              <a:rPr sz="2900" spc="-105" dirty="0">
                <a:solidFill>
                  <a:schemeClr val="tx1"/>
                </a:solidFill>
                <a:latin typeface="Cambria"/>
                <a:cs typeface="Cambria"/>
              </a:rPr>
              <a:t>3.3B)</a:t>
            </a:r>
            <a:endParaRPr sz="290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845800" y="5511800"/>
            <a:ext cx="1320800" cy="355600"/>
          </a:xfrm>
          <a:custGeom>
            <a:avLst/>
            <a:gdLst/>
            <a:ahLst/>
            <a:cxnLst/>
            <a:rect l="l" t="t" r="r" b="b"/>
            <a:pathLst>
              <a:path w="1320800" h="355600">
                <a:moveTo>
                  <a:pt x="1320800" y="355600"/>
                </a:moveTo>
                <a:lnTo>
                  <a:pt x="0" y="355600"/>
                </a:lnTo>
                <a:lnTo>
                  <a:pt x="0" y="0"/>
                </a:lnTo>
                <a:lnTo>
                  <a:pt x="1320800" y="0"/>
                </a:lnTo>
                <a:lnTo>
                  <a:pt x="1320800" y="3556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693400" y="6388100"/>
            <a:ext cx="457200" cy="3173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sz="3200" spc="-50" dirty="0">
                <a:solidFill>
                  <a:schemeClr val="tx1"/>
                </a:solidFill>
                <a:latin typeface="Times New Roman"/>
                <a:cs typeface="Times New Roman"/>
              </a:rPr>
              <a:t>for</a:t>
            </a:r>
            <a:endParaRPr sz="32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239500" y="6388100"/>
            <a:ext cx="15621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00"/>
              </a:lnSpc>
            </a:pPr>
            <a:r>
              <a:rPr sz="3050" spc="-80" dirty="0">
                <a:solidFill>
                  <a:schemeClr val="tx1"/>
                </a:solidFill>
                <a:latin typeface="Cambria"/>
                <a:cs typeface="Cambria"/>
              </a:rPr>
              <a:t>efficiency.</a:t>
            </a:r>
            <a:endParaRPr sz="305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613900" y="8394700"/>
            <a:ext cx="2057400" cy="3143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300"/>
              </a:lnSpc>
            </a:pPr>
            <a:r>
              <a:rPr sz="3100" spc="-100" dirty="0">
                <a:solidFill>
                  <a:schemeClr val="tx1"/>
                </a:solidFill>
                <a:latin typeface="Times New Roman"/>
                <a:cs typeface="Times New Roman"/>
              </a:rPr>
              <a:t>low-</a:t>
            </a:r>
            <a:r>
              <a:rPr sz="3100" spc="-55" dirty="0">
                <a:solidFill>
                  <a:schemeClr val="tx1"/>
                </a:solidFill>
                <a:latin typeface="Times New Roman"/>
                <a:cs typeface="Times New Roman"/>
              </a:rPr>
              <a:t>resOurce</a:t>
            </a:r>
            <a:endParaRPr sz="31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2255500" y="2044700"/>
            <a:ext cx="1028700" cy="355600"/>
          </a:xfrm>
          <a:custGeom>
            <a:avLst/>
            <a:gdLst/>
            <a:ahLst/>
            <a:cxnLst/>
            <a:rect l="l" t="t" r="r" b="b"/>
            <a:pathLst>
              <a:path w="1028700" h="355600">
                <a:moveTo>
                  <a:pt x="1028700" y="355600"/>
                </a:moveTo>
                <a:lnTo>
                  <a:pt x="0" y="355600"/>
                </a:lnTo>
                <a:lnTo>
                  <a:pt x="0" y="0"/>
                </a:lnTo>
                <a:lnTo>
                  <a:pt x="1028700" y="0"/>
                </a:lnTo>
                <a:lnTo>
                  <a:pt x="1028700" y="3556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0223500" y="2857500"/>
            <a:ext cx="6172200" cy="304800"/>
          </a:xfrm>
          <a:custGeom>
            <a:avLst/>
            <a:gdLst/>
            <a:ahLst/>
            <a:cxnLst/>
            <a:rect l="l" t="t" r="r" b="b"/>
            <a:pathLst>
              <a:path w="6172200" h="304800">
                <a:moveTo>
                  <a:pt x="6172200" y="304800"/>
                </a:moveTo>
                <a:lnTo>
                  <a:pt x="0" y="304800"/>
                </a:lnTo>
                <a:lnTo>
                  <a:pt x="0" y="0"/>
                </a:lnTo>
                <a:lnTo>
                  <a:pt x="6172200" y="0"/>
                </a:lnTo>
                <a:lnTo>
                  <a:pt x="6172200" y="3048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823700" y="5067300"/>
            <a:ext cx="1333500" cy="342900"/>
          </a:xfrm>
          <a:custGeom>
            <a:avLst/>
            <a:gdLst/>
            <a:ahLst/>
            <a:cxnLst/>
            <a:rect l="l" t="t" r="r" b="b"/>
            <a:pathLst>
              <a:path w="1333500" h="342900">
                <a:moveTo>
                  <a:pt x="1333500" y="342900"/>
                </a:moveTo>
                <a:lnTo>
                  <a:pt x="0" y="342900"/>
                </a:lnTo>
                <a:lnTo>
                  <a:pt x="0" y="0"/>
                </a:lnTo>
                <a:lnTo>
                  <a:pt x="1333500" y="0"/>
                </a:lnTo>
                <a:lnTo>
                  <a:pt x="1333500" y="3429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2280900" y="5499100"/>
            <a:ext cx="977900" cy="279400"/>
          </a:xfrm>
          <a:custGeom>
            <a:avLst/>
            <a:gdLst/>
            <a:ahLst/>
            <a:cxnLst/>
            <a:rect l="l" t="t" r="r" b="b"/>
            <a:pathLst>
              <a:path w="977900" h="279400">
                <a:moveTo>
                  <a:pt x="9779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977900" y="0"/>
                </a:lnTo>
                <a:lnTo>
                  <a:pt x="977900" y="2794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823700" y="7493000"/>
            <a:ext cx="1231900" cy="292100"/>
          </a:xfrm>
          <a:custGeom>
            <a:avLst/>
            <a:gdLst/>
            <a:ahLst/>
            <a:cxnLst/>
            <a:rect l="l" t="t" r="r" b="b"/>
            <a:pathLst>
              <a:path w="1231900" h="292100">
                <a:moveTo>
                  <a:pt x="12319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231900" y="0"/>
                </a:lnTo>
                <a:lnTo>
                  <a:pt x="1231900" y="2921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3271500" y="5080000"/>
            <a:ext cx="711200" cy="254000"/>
          </a:xfrm>
          <a:custGeom>
            <a:avLst/>
            <a:gdLst/>
            <a:ahLst/>
            <a:cxnLst/>
            <a:rect l="l" t="t" r="r" b="b"/>
            <a:pathLst>
              <a:path w="711200" h="254000">
                <a:moveTo>
                  <a:pt x="711200" y="254000"/>
                </a:moveTo>
                <a:lnTo>
                  <a:pt x="0" y="254000"/>
                </a:lnTo>
                <a:lnTo>
                  <a:pt x="0" y="0"/>
                </a:lnTo>
                <a:lnTo>
                  <a:pt x="711200" y="0"/>
                </a:lnTo>
                <a:lnTo>
                  <a:pt x="711200" y="2540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9808136" y="4929363"/>
            <a:ext cx="4186554" cy="480695"/>
          </a:xfrm>
          <a:prstGeom prst="rect">
            <a:avLst/>
          </a:prstGeom>
          <a:noFill/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25" dirty="0">
                <a:solidFill>
                  <a:schemeClr val="tx1"/>
                </a:solidFill>
                <a:latin typeface="Cambria"/>
                <a:cs typeface="Cambria"/>
              </a:rPr>
              <a:t>Multilingual</a:t>
            </a:r>
            <a:r>
              <a:rPr sz="2950" spc="1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00" dirty="0">
                <a:solidFill>
                  <a:schemeClr val="tx1"/>
                </a:solidFill>
                <a:latin typeface="Cambria"/>
                <a:cs typeface="Cambria"/>
              </a:rPr>
              <a:t>Support:</a:t>
            </a:r>
            <a:r>
              <a:rPr sz="2900" spc="-7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00" spc="-135" dirty="0">
                <a:solidFill>
                  <a:schemeClr val="tx1"/>
                </a:solidFill>
                <a:latin typeface="Cambria"/>
                <a:cs typeface="Cambria"/>
              </a:rPr>
              <a:t>200+</a:t>
            </a:r>
            <a:endParaRPr sz="29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3360400" y="5499100"/>
            <a:ext cx="1841500" cy="368300"/>
          </a:xfrm>
          <a:custGeom>
            <a:avLst/>
            <a:gdLst/>
            <a:ahLst/>
            <a:cxnLst/>
            <a:rect l="l" t="t" r="r" b="b"/>
            <a:pathLst>
              <a:path w="1841500" h="368300">
                <a:moveTo>
                  <a:pt x="1841500" y="368300"/>
                </a:moveTo>
                <a:lnTo>
                  <a:pt x="0" y="368300"/>
                </a:lnTo>
                <a:lnTo>
                  <a:pt x="0" y="0"/>
                </a:lnTo>
                <a:lnTo>
                  <a:pt x="1841500" y="0"/>
                </a:lnTo>
                <a:lnTo>
                  <a:pt x="1841500" y="3683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809398" y="5373863"/>
            <a:ext cx="4391025" cy="480695"/>
          </a:xfrm>
          <a:prstGeom prst="rect">
            <a:avLst/>
          </a:prstGeom>
          <a:noFill/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55" dirty="0">
                <a:solidFill>
                  <a:schemeClr val="tx1"/>
                </a:solidFill>
                <a:latin typeface="Times New Roman"/>
                <a:cs typeface="Times New Roman"/>
              </a:rPr>
              <a:t>Support:</a:t>
            </a:r>
            <a:r>
              <a:rPr sz="2950" spc="-15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950" dirty="0">
                <a:solidFill>
                  <a:schemeClr val="tx1"/>
                </a:solidFill>
                <a:latin typeface="Cambria"/>
                <a:cs typeface="Cambria"/>
              </a:rPr>
              <a:t>Natìre</a:t>
            </a:r>
            <a:r>
              <a:rPr sz="2950" spc="-5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50" spc="-10" dirty="0">
                <a:solidFill>
                  <a:schemeClr val="tx1"/>
                </a:solidFill>
                <a:latin typeface="Cambria"/>
                <a:cs typeface="Cambria"/>
              </a:rPr>
              <a:t>Deranagari.</a:t>
            </a:r>
            <a:endParaRPr sz="295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157200" y="7505700"/>
            <a:ext cx="1346200" cy="279400"/>
          </a:xfrm>
          <a:custGeom>
            <a:avLst/>
            <a:gdLst/>
            <a:ahLst/>
            <a:cxnLst/>
            <a:rect l="l" t="t" r="r" b="b"/>
            <a:pathLst>
              <a:path w="1346200" h="279400">
                <a:moveTo>
                  <a:pt x="1346200" y="279400"/>
                </a:moveTo>
                <a:lnTo>
                  <a:pt x="0" y="279400"/>
                </a:lnTo>
                <a:lnTo>
                  <a:pt x="0" y="0"/>
                </a:lnTo>
                <a:lnTo>
                  <a:pt x="1346200" y="0"/>
                </a:lnTo>
                <a:lnTo>
                  <a:pt x="1346200" y="2794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1785600" y="8394700"/>
            <a:ext cx="16764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810"/>
              </a:lnSpc>
            </a:pPr>
            <a:r>
              <a:rPr sz="3050" spc="-60" dirty="0">
                <a:solidFill>
                  <a:schemeClr val="tx1"/>
                </a:solidFill>
                <a:latin typeface="Cambria"/>
                <a:cs typeface="Cambria"/>
              </a:rPr>
              <a:t>languages.</a:t>
            </a:r>
            <a:endParaRPr sz="305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3754100" y="762000"/>
            <a:ext cx="2032000" cy="609600"/>
          </a:xfrm>
          <a:custGeom>
            <a:avLst/>
            <a:gdLst/>
            <a:ahLst/>
            <a:cxnLst/>
            <a:rect l="l" t="t" r="r" b="b"/>
            <a:pathLst>
              <a:path w="2032000" h="609600">
                <a:moveTo>
                  <a:pt x="2032000" y="609600"/>
                </a:moveTo>
                <a:lnTo>
                  <a:pt x="0" y="609600"/>
                </a:lnTo>
                <a:lnTo>
                  <a:pt x="0" y="0"/>
                </a:lnTo>
                <a:lnTo>
                  <a:pt x="2032000" y="0"/>
                </a:lnTo>
                <a:lnTo>
                  <a:pt x="2032000" y="6096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4081018" y="520215"/>
            <a:ext cx="10862945" cy="893444"/>
          </a:xfrm>
          <a:prstGeom prst="rect">
            <a:avLst/>
          </a:prstGeom>
          <a:noFill/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325" baseline="-1001" dirty="0">
                <a:solidFill>
                  <a:schemeClr val="tx1"/>
                </a:solidFill>
                <a:latin typeface="Arial MT"/>
                <a:cs typeface="Arial MT"/>
              </a:rPr>
              <a:t>Neural</a:t>
            </a:r>
            <a:r>
              <a:rPr sz="8325" spc="-577" baseline="-1001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5600" dirty="0">
                <a:solidFill>
                  <a:schemeClr val="tx1"/>
                </a:solidFill>
                <a:latin typeface="Arial MT"/>
                <a:cs typeface="Arial MT"/>
              </a:rPr>
              <a:t>Machine</a:t>
            </a:r>
            <a:r>
              <a:rPr sz="5600" spc="-2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5700" spc="-75" dirty="0">
                <a:solidFill>
                  <a:schemeClr val="tx1"/>
                </a:solidFill>
                <a:latin typeface="Arial MT"/>
                <a:cs typeface="Arial MT"/>
              </a:rPr>
              <a:t>Translation</a:t>
            </a:r>
            <a:r>
              <a:rPr sz="5700" spc="-120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5250" spc="-30" dirty="0">
                <a:solidFill>
                  <a:schemeClr val="tx1"/>
                </a:solidFill>
                <a:latin typeface="Arial MT"/>
                <a:cs typeface="Arial MT"/>
              </a:rPr>
              <a:t>(NLLB)</a:t>
            </a:r>
            <a:endParaRPr sz="525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4262100" y="3492500"/>
            <a:ext cx="1524000" cy="368300"/>
          </a:xfrm>
          <a:custGeom>
            <a:avLst/>
            <a:gdLst/>
            <a:ahLst/>
            <a:cxnLst/>
            <a:rect l="l" t="t" r="r" b="b"/>
            <a:pathLst>
              <a:path w="1524000" h="368300">
                <a:moveTo>
                  <a:pt x="1524000" y="368300"/>
                </a:moveTo>
                <a:lnTo>
                  <a:pt x="0" y="368300"/>
                </a:lnTo>
                <a:lnTo>
                  <a:pt x="0" y="0"/>
                </a:lnTo>
                <a:lnTo>
                  <a:pt x="1524000" y="0"/>
                </a:lnTo>
                <a:lnTo>
                  <a:pt x="1524000" y="3683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007532" y="1567367"/>
            <a:ext cx="7445375" cy="3401695"/>
          </a:xfrm>
          <a:prstGeom prst="rect">
            <a:avLst/>
          </a:prstGeom>
          <a:noFill/>
        </p:spPr>
        <p:txBody>
          <a:bodyPr vert="horz" wrap="square" lIns="0" tIns="318135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2505"/>
              </a:spcBef>
            </a:pPr>
            <a:r>
              <a:rPr sz="5775" spc="-15" baseline="1443" dirty="0">
                <a:solidFill>
                  <a:schemeClr val="tx1"/>
                </a:solidFill>
                <a:latin typeface="Consolas"/>
                <a:cs typeface="Consolas"/>
              </a:rPr>
              <a:t>The</a:t>
            </a:r>
            <a:r>
              <a:rPr sz="5775" spc="-1642" baseline="1443" dirty="0">
                <a:solidFill>
                  <a:schemeClr val="tx1"/>
                </a:solidFill>
                <a:latin typeface="Consolas"/>
                <a:cs typeface="Consolas"/>
              </a:rPr>
              <a:t> </a:t>
            </a:r>
            <a:r>
              <a:rPr sz="3950" spc="-100" dirty="0">
                <a:solidFill>
                  <a:schemeClr val="tx1"/>
                </a:solidFill>
                <a:latin typeface="Arial MT"/>
                <a:cs typeface="Arial MT"/>
              </a:rPr>
              <a:t>Translator</a:t>
            </a:r>
            <a:r>
              <a:rPr sz="3950" spc="-85" dirty="0">
                <a:solidFill>
                  <a:schemeClr val="tx1"/>
                </a:solidFill>
                <a:latin typeface="Arial MT"/>
                <a:cs typeface="Arial MT"/>
              </a:rPr>
              <a:t> </a:t>
            </a:r>
            <a:r>
              <a:rPr sz="5700" spc="-15" baseline="1461" dirty="0">
                <a:solidFill>
                  <a:schemeClr val="tx1"/>
                </a:solidFill>
                <a:latin typeface="Arial MT"/>
                <a:cs typeface="Arial MT"/>
              </a:rPr>
              <a:t>Brain</a:t>
            </a:r>
            <a:endParaRPr sz="5700" baseline="146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4575" spc="-15" baseline="1821" dirty="0">
                <a:solidFill>
                  <a:schemeClr val="tx1"/>
                </a:solidFill>
                <a:latin typeface="Cambria"/>
                <a:cs typeface="Cambria"/>
              </a:rPr>
              <a:t>Model:</a:t>
            </a:r>
            <a:r>
              <a:rPr sz="4575" spc="75" baseline="1821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850" spc="-90" dirty="0">
                <a:solidFill>
                  <a:schemeClr val="tx1"/>
                </a:solidFill>
                <a:latin typeface="Consolas"/>
                <a:cs typeface="Consolas"/>
              </a:rPr>
              <a:t>Zacebook/nllb-200-distilled-</a:t>
            </a:r>
            <a:r>
              <a:rPr sz="2850" spc="-35" dirty="0">
                <a:solidFill>
                  <a:schemeClr val="tx1"/>
                </a:solidFill>
                <a:latin typeface="Consolas"/>
                <a:cs typeface="Consolas"/>
              </a:rPr>
              <a:t>600M.</a:t>
            </a:r>
            <a:endParaRPr sz="2850" dirty="0">
              <a:solidFill>
                <a:schemeClr val="tx1"/>
              </a:solidFill>
              <a:latin typeface="Consolas"/>
              <a:cs typeface="Consolas"/>
            </a:endParaRPr>
          </a:p>
          <a:p>
            <a:pPr marL="33020">
              <a:lnSpc>
                <a:spcPts val="3800"/>
              </a:lnSpc>
              <a:spcBef>
                <a:spcPts val="1340"/>
              </a:spcBef>
            </a:pPr>
            <a:r>
              <a:rPr sz="3100" spc="-10" dirty="0">
                <a:solidFill>
                  <a:schemeClr val="tx1"/>
                </a:solidFill>
                <a:latin typeface="Times New Roman"/>
                <a:cs typeface="Times New Roman"/>
              </a:rPr>
              <a:t>Concept:</a:t>
            </a:r>
            <a:r>
              <a:rPr sz="3100" spc="-3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3100" spc="-90" dirty="0">
                <a:solidFill>
                  <a:schemeClr val="tx1"/>
                </a:solidFill>
                <a:latin typeface="Cambria"/>
                <a:cs typeface="Cambria"/>
              </a:rPr>
              <a:t>Sequence-</a:t>
            </a:r>
            <a:r>
              <a:rPr sz="3100" spc="-75" dirty="0">
                <a:solidFill>
                  <a:schemeClr val="tx1"/>
                </a:solidFill>
                <a:latin typeface="Cambria"/>
                <a:cs typeface="Cambria"/>
              </a:rPr>
              <a:t>to-</a:t>
            </a:r>
            <a:r>
              <a:rPr sz="3100" spc="-85" dirty="0">
                <a:solidFill>
                  <a:schemeClr val="tx1"/>
                </a:solidFill>
                <a:latin typeface="Cambria"/>
                <a:cs typeface="Cambria"/>
              </a:rPr>
              <a:t>Sequence</a:t>
            </a:r>
            <a:r>
              <a:rPr sz="3100" spc="-11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3250" spc="-434" dirty="0">
                <a:solidFill>
                  <a:schemeClr val="tx1"/>
                </a:solidFill>
                <a:latin typeface="Arial MT"/>
                <a:cs typeface="Arial MT"/>
              </a:rPr>
              <a:t>(Seq2Seq)</a:t>
            </a:r>
            <a:endParaRPr sz="3250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24765">
              <a:lnSpc>
                <a:spcPts val="3560"/>
              </a:lnSpc>
            </a:pPr>
            <a:r>
              <a:rPr sz="3050" spc="-10" dirty="0">
                <a:solidFill>
                  <a:schemeClr val="tx1"/>
                </a:solidFill>
                <a:latin typeface="Cambria"/>
                <a:cs typeface="Cambria"/>
              </a:rPr>
              <a:t>Generation.</a:t>
            </a:r>
            <a:endParaRPr sz="3050" dirty="0">
              <a:solidFill>
                <a:schemeClr val="tx1"/>
              </a:solidFill>
              <a:latin typeface="Cambria"/>
              <a:cs typeface="Cambria"/>
            </a:endParaRPr>
          </a:p>
          <a:p>
            <a:pPr marL="24130">
              <a:lnSpc>
                <a:spcPct val="100000"/>
              </a:lnSpc>
              <a:spcBef>
                <a:spcPts val="1490"/>
              </a:spcBef>
            </a:pPr>
            <a:r>
              <a:rPr sz="3050" spc="-45" dirty="0">
                <a:solidFill>
                  <a:schemeClr val="tx1"/>
                </a:solidFill>
                <a:latin typeface="Cambria"/>
                <a:cs typeface="Cambria"/>
              </a:rPr>
              <a:t>Key</a:t>
            </a:r>
            <a:r>
              <a:rPr sz="3050" spc="-114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3100" spc="-10" dirty="0">
                <a:solidFill>
                  <a:schemeClr val="tx1"/>
                </a:solidFill>
                <a:latin typeface="Times New Roman"/>
                <a:cs typeface="Times New Roman"/>
              </a:rPr>
              <a:t>Specs:</a:t>
            </a:r>
            <a:endParaRPr sz="31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4071600" y="5080000"/>
            <a:ext cx="1739900" cy="3265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0"/>
              </a:lnSpc>
            </a:pPr>
            <a:r>
              <a:rPr sz="2950" spc="-30" dirty="0">
                <a:solidFill>
                  <a:schemeClr val="tx1"/>
                </a:solidFill>
                <a:latin typeface="Cambria"/>
                <a:cs typeface="Cambria"/>
              </a:rPr>
              <a:t>Languages.</a:t>
            </a:r>
            <a:endParaRPr sz="295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4605000" y="7493000"/>
            <a:ext cx="1943100" cy="292100"/>
          </a:xfrm>
          <a:custGeom>
            <a:avLst/>
            <a:gdLst/>
            <a:ahLst/>
            <a:cxnLst/>
            <a:rect l="l" t="t" r="r" b="b"/>
            <a:pathLst>
              <a:path w="1943100" h="292100">
                <a:moveTo>
                  <a:pt x="1943100" y="292100"/>
                </a:moveTo>
                <a:lnTo>
                  <a:pt x="0" y="292100"/>
                </a:lnTo>
                <a:lnTo>
                  <a:pt x="0" y="0"/>
                </a:lnTo>
                <a:lnTo>
                  <a:pt x="1943100" y="0"/>
                </a:lnTo>
                <a:lnTo>
                  <a:pt x="1943100" y="292100"/>
                </a:lnTo>
                <a:close/>
              </a:path>
            </a:pathLst>
          </a:custGeom>
          <a:noFill/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814605" y="7371644"/>
            <a:ext cx="4723130" cy="491490"/>
          </a:xfrm>
          <a:prstGeom prst="rect">
            <a:avLst/>
          </a:prstGeom>
          <a:noFill/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50" spc="-25" dirty="0">
                <a:solidFill>
                  <a:schemeClr val="tx1"/>
                </a:solidFill>
                <a:latin typeface="Cambria"/>
                <a:cs typeface="Cambria"/>
              </a:rPr>
              <a:t>balance</a:t>
            </a:r>
            <a:r>
              <a:rPr sz="3050" spc="3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3050" spc="-85" dirty="0">
                <a:solidFill>
                  <a:schemeClr val="tx1"/>
                </a:solidFill>
                <a:latin typeface="Cambria"/>
                <a:cs typeface="Cambria"/>
              </a:rPr>
              <a:t>between</a:t>
            </a:r>
            <a:r>
              <a:rPr sz="3050" spc="-6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900" spc="-110" dirty="0">
                <a:solidFill>
                  <a:schemeClr val="tx1"/>
                </a:solidFill>
                <a:latin typeface="Times New Roman"/>
                <a:cs typeface="Times New Roman"/>
              </a:rPr>
              <a:t>state-</a:t>
            </a:r>
            <a:r>
              <a:rPr sz="2900" spc="-204" dirty="0">
                <a:solidFill>
                  <a:schemeClr val="tx1"/>
                </a:solidFill>
                <a:latin typeface="Times New Roman"/>
                <a:cs typeface="Times New Roman"/>
              </a:rPr>
              <a:t>Of—</a:t>
            </a:r>
            <a:r>
              <a:rPr sz="2900" spc="-60" dirty="0">
                <a:solidFill>
                  <a:schemeClr val="tx1"/>
                </a:solidFill>
                <a:latin typeface="Times New Roman"/>
                <a:cs typeface="Times New Roman"/>
              </a:rPr>
              <a:t>the-</a:t>
            </a:r>
            <a:endParaRPr sz="29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9C95CA-3698-9086-D850-460F760CF05E}"/>
              </a:ext>
            </a:extLst>
          </p:cNvPr>
          <p:cNvSpPr txBox="1"/>
          <p:nvPr/>
        </p:nvSpPr>
        <p:spPr>
          <a:xfrm>
            <a:off x="1171762" y="589985"/>
            <a:ext cx="874058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5000" b="1" spc="-155" dirty="0">
                <a:solidFill>
                  <a:schemeClr val="tx1"/>
                </a:solidFill>
                <a:latin typeface="+mj-lt"/>
                <a:cs typeface="Arial MT"/>
              </a:rPr>
              <a:t>Deep Dive:</a:t>
            </a:r>
            <a:endParaRPr lang="en-IN" sz="5000" b="1" dirty="0">
              <a:solidFill>
                <a:schemeClr val="tx1"/>
              </a:solidFill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8400" y="1803400"/>
            <a:ext cx="12725400" cy="736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7136" y="544336"/>
            <a:ext cx="14413865" cy="904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750" spc="-135" dirty="0">
                <a:solidFill>
                  <a:srgbClr val="2F2F2F"/>
                </a:solidFill>
                <a:latin typeface="Arial MT"/>
                <a:cs typeface="Arial MT"/>
              </a:rPr>
              <a:t>Core</a:t>
            </a:r>
            <a:r>
              <a:rPr sz="5750" spc="-434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5750" spc="204" dirty="0">
                <a:solidFill>
                  <a:srgbClr val="2D2D2D"/>
                </a:solidFill>
                <a:latin typeface="Arial MT"/>
                <a:cs typeface="Arial MT"/>
              </a:rPr>
              <a:t>Implementation:</a:t>
            </a:r>
            <a:r>
              <a:rPr sz="5750" spc="-28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5750" spc="-125" dirty="0">
                <a:solidFill>
                  <a:srgbClr val="2F2F2F"/>
                </a:solidFill>
                <a:latin typeface="Arial MT"/>
                <a:cs typeface="Arial MT"/>
              </a:rPr>
              <a:t>The</a:t>
            </a:r>
            <a:r>
              <a:rPr sz="5750" spc="-90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5750" dirty="0">
                <a:solidFill>
                  <a:srgbClr val="2D2D2D"/>
                </a:solidFill>
                <a:latin typeface="Arial MT"/>
                <a:cs typeface="Arial MT"/>
              </a:rPr>
              <a:t>Translation</a:t>
            </a:r>
            <a:r>
              <a:rPr sz="5750" spc="22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5750" spc="-35" dirty="0">
                <a:solidFill>
                  <a:srgbClr val="2A2A2A"/>
                </a:solidFill>
                <a:latin typeface="Arial MT"/>
                <a:cs typeface="Arial MT"/>
              </a:rPr>
              <a:t>Logic</a:t>
            </a:r>
            <a:endParaRPr sz="5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6939" y="4199113"/>
            <a:ext cx="2347595" cy="87439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8415" marR="5080" indent="-6350">
              <a:lnSpc>
                <a:spcPts val="3100"/>
              </a:lnSpc>
              <a:spcBef>
                <a:spcPts val="605"/>
              </a:spcBef>
            </a:pPr>
            <a:r>
              <a:rPr sz="2950" spc="-235" dirty="0">
                <a:latin typeface="Arial MT"/>
                <a:cs typeface="Arial MT"/>
              </a:rPr>
              <a:t>Device</a:t>
            </a:r>
            <a:r>
              <a:rPr sz="2950" spc="-15" dirty="0">
                <a:latin typeface="Arial MT"/>
                <a:cs typeface="Arial MT"/>
              </a:rPr>
              <a:t> </a:t>
            </a:r>
            <a:r>
              <a:rPr sz="2950" spc="-190" dirty="0">
                <a:latin typeface="Arial MT"/>
                <a:cs typeface="Arial MT"/>
              </a:rPr>
              <a:t>Agnostic </a:t>
            </a:r>
            <a:r>
              <a:rPr sz="2950" spc="-360" dirty="0">
                <a:latin typeface="Arial MT"/>
                <a:cs typeface="Arial MT"/>
              </a:rPr>
              <a:t>(CPU/GPU)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17256" y="6510514"/>
            <a:ext cx="2644140" cy="1417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130">
              <a:lnSpc>
                <a:spcPts val="3345"/>
              </a:lnSpc>
              <a:spcBef>
                <a:spcPts val="135"/>
              </a:spcBef>
            </a:pPr>
            <a:r>
              <a:rPr sz="2950" spc="-10" dirty="0">
                <a:latin typeface="Arial MT"/>
                <a:cs typeface="Arial MT"/>
              </a:rPr>
              <a:t>Script</a:t>
            </a:r>
            <a:endParaRPr sz="2950">
              <a:latin typeface="Arial MT"/>
              <a:cs typeface="Arial MT"/>
            </a:endParaRPr>
          </a:p>
          <a:p>
            <a:pPr marL="12700">
              <a:lnSpc>
                <a:spcPts val="3225"/>
              </a:lnSpc>
            </a:pPr>
            <a:r>
              <a:rPr sz="2850" spc="-60" dirty="0">
                <a:latin typeface="Arial MT"/>
                <a:cs typeface="Arial MT"/>
              </a:rPr>
              <a:t>Enforcement</a:t>
            </a:r>
            <a:endParaRPr sz="2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850" spc="-220" dirty="0">
                <a:latin typeface="Arial MT"/>
                <a:cs typeface="Arial MT"/>
              </a:rPr>
              <a:t>Sequence</a:t>
            </a:r>
            <a:r>
              <a:rPr sz="2850" spc="55" dirty="0">
                <a:latin typeface="Arial MT"/>
                <a:cs typeface="Arial MT"/>
              </a:rPr>
              <a:t> </a:t>
            </a:r>
            <a:r>
              <a:rPr sz="2850" spc="-75" dirty="0">
                <a:latin typeface="Arial MT"/>
                <a:cs typeface="Arial MT"/>
              </a:rPr>
              <a:t>Control</a:t>
            </a:r>
            <a:endParaRPr sz="2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200" y="2146300"/>
            <a:ext cx="16040100" cy="2794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1013016" y="6405033"/>
            <a:ext cx="0" cy="2755900"/>
          </a:xfrm>
          <a:custGeom>
            <a:avLst/>
            <a:gdLst/>
            <a:ahLst/>
            <a:cxnLst/>
            <a:rect l="l" t="t" r="r" b="b"/>
            <a:pathLst>
              <a:path h="2755900">
                <a:moveTo>
                  <a:pt x="0" y="2755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4B4F4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006666" y="6405033"/>
            <a:ext cx="5727700" cy="2755900"/>
            <a:chOff x="11006666" y="6405033"/>
            <a:chExt cx="5727700" cy="2755900"/>
          </a:xfrm>
        </p:grpSpPr>
        <p:sp>
          <p:nvSpPr>
            <p:cNvPr id="5" name="object 5"/>
            <p:cNvSpPr/>
            <p:nvPr/>
          </p:nvSpPr>
          <p:spPr>
            <a:xfrm>
              <a:off x="16728020" y="6405033"/>
              <a:ext cx="0" cy="2755900"/>
            </a:xfrm>
            <a:custGeom>
              <a:avLst/>
              <a:gdLst/>
              <a:ahLst/>
              <a:cxnLst/>
              <a:rect l="l" t="t" r="r" b="b"/>
              <a:pathLst>
                <a:path h="2755900">
                  <a:moveTo>
                    <a:pt x="0" y="2755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4B4F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006666" y="6411383"/>
              <a:ext cx="5727700" cy="0"/>
            </a:xfrm>
            <a:custGeom>
              <a:avLst/>
              <a:gdLst/>
              <a:ahLst/>
              <a:cxnLst/>
              <a:rect l="l" t="t" r="r" b="b"/>
              <a:pathLst>
                <a:path w="5727700">
                  <a:moveTo>
                    <a:pt x="0" y="0"/>
                  </a:moveTo>
                  <a:lnTo>
                    <a:pt x="5727700" y="0"/>
                  </a:lnTo>
                </a:path>
              </a:pathLst>
            </a:custGeom>
            <a:ln w="12700">
              <a:solidFill>
                <a:srgbClr val="4B4F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006666" y="9154583"/>
              <a:ext cx="5727700" cy="0"/>
            </a:xfrm>
            <a:custGeom>
              <a:avLst/>
              <a:gdLst/>
              <a:ahLst/>
              <a:cxnLst/>
              <a:rect l="l" t="t" r="r" b="b"/>
              <a:pathLst>
                <a:path w="5727700">
                  <a:moveTo>
                    <a:pt x="0" y="0"/>
                  </a:moveTo>
                  <a:lnTo>
                    <a:pt x="5727700" y="0"/>
                  </a:lnTo>
                </a:path>
              </a:pathLst>
            </a:custGeom>
            <a:ln w="12700">
              <a:solidFill>
                <a:srgbClr val="4B4F4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97234" y="412749"/>
            <a:ext cx="26460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30" dirty="0">
                <a:solidFill>
                  <a:srgbClr val="0F0F0F"/>
                </a:solidFill>
                <a:latin typeface="Calibri"/>
                <a:cs typeface="Calibri"/>
              </a:rPr>
              <a:t>Engineering</a:t>
            </a:r>
            <a:r>
              <a:rPr sz="2500" spc="8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131313"/>
                </a:solidFill>
                <a:latin typeface="Calibri"/>
                <a:cs typeface="Calibri"/>
              </a:rPr>
              <a:t>Editorial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82179" y="842433"/>
            <a:ext cx="13099415" cy="850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400" dirty="0">
                <a:solidFill>
                  <a:srgbClr val="2D2D2D"/>
                </a:solidFill>
                <a:latin typeface="Arial MT"/>
                <a:cs typeface="Arial MT"/>
              </a:rPr>
              <a:t>Evaluation</a:t>
            </a:r>
            <a:r>
              <a:rPr sz="5400" spc="10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5400" dirty="0">
                <a:latin typeface="Arial MT"/>
                <a:cs typeface="Arial MT"/>
              </a:rPr>
              <a:t>&amp;</a:t>
            </a:r>
            <a:r>
              <a:rPr sz="5400" spc="-200" dirty="0">
                <a:latin typeface="Arial MT"/>
                <a:cs typeface="Arial MT"/>
              </a:rPr>
              <a:t> </a:t>
            </a:r>
            <a:r>
              <a:rPr sz="5400" spc="90" dirty="0">
                <a:solidFill>
                  <a:srgbClr val="2A2A2A"/>
                </a:solidFill>
                <a:latin typeface="Arial MT"/>
                <a:cs typeface="Arial MT"/>
              </a:rPr>
              <a:t>Analysis:</a:t>
            </a:r>
            <a:r>
              <a:rPr sz="5400" spc="-1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5400" spc="170" dirty="0">
                <a:solidFill>
                  <a:srgbClr val="2D2D2D"/>
                </a:solidFill>
                <a:latin typeface="Arial MT"/>
                <a:cs typeface="Arial MT"/>
              </a:rPr>
              <a:t>Metrics</a:t>
            </a:r>
            <a:r>
              <a:rPr sz="5400" spc="-2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5400" spc="150" dirty="0">
                <a:solidFill>
                  <a:srgbClr val="2F2F2F"/>
                </a:solidFill>
                <a:latin typeface="Arial MT"/>
                <a:cs typeface="Arial MT"/>
              </a:rPr>
              <a:t>that</a:t>
            </a:r>
            <a:r>
              <a:rPr sz="5400" spc="-114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5400" spc="114" dirty="0">
                <a:solidFill>
                  <a:srgbClr val="2D2D2D"/>
                </a:solidFill>
                <a:latin typeface="Arial MT"/>
                <a:cs typeface="Arial MT"/>
              </a:rPr>
              <a:t>Matter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1986" y="4944533"/>
            <a:ext cx="1347470" cy="10045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6230">
              <a:lnSpc>
                <a:spcPts val="3215"/>
              </a:lnSpc>
              <a:spcBef>
                <a:spcPts val="114"/>
              </a:spcBef>
            </a:pPr>
            <a:r>
              <a:rPr sz="2900" spc="-20" dirty="0">
                <a:latin typeface="Calibri"/>
                <a:cs typeface="Calibri"/>
              </a:rPr>
              <a:t>BLEU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ts val="4475"/>
              </a:lnSpc>
              <a:tabLst>
                <a:tab pos="799465" algn="l"/>
              </a:tabLst>
            </a:pPr>
            <a:r>
              <a:rPr sz="3950" spc="-25" dirty="0">
                <a:solidFill>
                  <a:srgbClr val="232323"/>
                </a:solidFill>
                <a:latin typeface="Calibri"/>
                <a:cs typeface="Calibri"/>
              </a:rPr>
              <a:t>15.</a:t>
            </a:r>
            <a:r>
              <a:rPr sz="3950" dirty="0">
                <a:solidFill>
                  <a:srgbClr val="232323"/>
                </a:solidFill>
                <a:latin typeface="Calibri"/>
                <a:cs typeface="Calibri"/>
              </a:rPr>
              <a:t>	</a:t>
            </a:r>
            <a:r>
              <a:rPr sz="3950" spc="70" dirty="0">
                <a:solidFill>
                  <a:srgbClr val="2A2A2A"/>
                </a:solidFill>
                <a:latin typeface="Calibri"/>
                <a:cs typeface="Calibri"/>
              </a:rPr>
              <a:t>19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1192" y="6262175"/>
            <a:ext cx="9271635" cy="13874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600" spc="75" dirty="0">
                <a:latin typeface="Calibri"/>
                <a:cs typeface="Calibri"/>
              </a:rPr>
              <a:t>Why</a:t>
            </a:r>
            <a:r>
              <a:rPr sz="2600" spc="60" dirty="0">
                <a:latin typeface="Calibri"/>
                <a:cs typeface="Calibri"/>
              </a:rPr>
              <a:t> </a:t>
            </a:r>
            <a:r>
              <a:rPr sz="2600" spc="125" dirty="0">
                <a:latin typeface="Calibri"/>
                <a:cs typeface="Calibri"/>
              </a:rPr>
              <a:t>chrF++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spc="125" dirty="0">
                <a:latin typeface="Calibri"/>
                <a:cs typeface="Calibri"/>
              </a:rPr>
              <a:t>wins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95" dirty="0">
                <a:latin typeface="Calibri"/>
                <a:cs typeface="Calibri"/>
              </a:rPr>
              <a:t>(47.43):</a:t>
            </a:r>
            <a:endParaRPr sz="2600">
              <a:latin typeface="Calibri"/>
              <a:cs typeface="Calibri"/>
            </a:endParaRPr>
          </a:p>
          <a:p>
            <a:pPr marL="16510" marR="5080" indent="635">
              <a:lnSpc>
                <a:spcPts val="3000"/>
              </a:lnSpc>
              <a:spcBef>
                <a:spcPts val="1080"/>
              </a:spcBef>
            </a:pPr>
            <a:r>
              <a:rPr sz="2900" spc="-130" dirty="0">
                <a:latin typeface="Calibri"/>
                <a:cs typeface="Calibri"/>
              </a:rPr>
              <a:t>Character</a:t>
            </a:r>
            <a:r>
              <a:rPr sz="2900" spc="25" dirty="0">
                <a:latin typeface="Calibri"/>
                <a:cs typeface="Calibri"/>
              </a:rPr>
              <a:t> </a:t>
            </a:r>
            <a:r>
              <a:rPr sz="2900" spc="-90" dirty="0">
                <a:latin typeface="Calibri"/>
                <a:cs typeface="Calibri"/>
              </a:rPr>
              <a:t>F-</a:t>
            </a:r>
            <a:r>
              <a:rPr sz="2900" spc="-80" dirty="0">
                <a:latin typeface="Calibri"/>
                <a:cs typeface="Calibri"/>
              </a:rPr>
              <a:t>score</a:t>
            </a:r>
            <a:r>
              <a:rPr sz="2900" spc="-3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is</a:t>
            </a:r>
            <a:r>
              <a:rPr sz="2900" spc="-90" dirty="0">
                <a:latin typeface="Calibri"/>
                <a:cs typeface="Calibri"/>
              </a:rPr>
              <a:t> </a:t>
            </a:r>
            <a:r>
              <a:rPr sz="2900" spc="-140" dirty="0">
                <a:latin typeface="Calibri"/>
                <a:cs typeface="Calibri"/>
              </a:rPr>
              <a:t>superior</a:t>
            </a:r>
            <a:r>
              <a:rPr sz="2900" spc="70" dirty="0">
                <a:latin typeface="Calibri"/>
                <a:cs typeface="Calibri"/>
              </a:rPr>
              <a:t> </a:t>
            </a:r>
            <a:r>
              <a:rPr sz="2900" spc="-180" dirty="0">
                <a:latin typeface="Calibri"/>
                <a:cs typeface="Calibri"/>
              </a:rPr>
              <a:t>for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spc="-125" dirty="0">
                <a:latin typeface="Calibri"/>
                <a:cs typeface="Calibri"/>
              </a:rPr>
              <a:t>morphologically</a:t>
            </a:r>
            <a:r>
              <a:rPr sz="2900" spc="-150" dirty="0">
                <a:latin typeface="Calibri"/>
                <a:cs typeface="Calibri"/>
              </a:rPr>
              <a:t> </a:t>
            </a:r>
            <a:r>
              <a:rPr sz="2900" spc="-120" dirty="0">
                <a:latin typeface="Calibri"/>
                <a:cs typeface="Calibri"/>
              </a:rPr>
              <a:t>rich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114" dirty="0">
                <a:latin typeface="Calibri"/>
                <a:cs typeface="Calibri"/>
              </a:rPr>
              <a:t>languages</a:t>
            </a:r>
            <a:r>
              <a:rPr sz="2900" spc="15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like </a:t>
            </a:r>
            <a:r>
              <a:rPr sz="2900" spc="-135" dirty="0">
                <a:latin typeface="Calibri"/>
                <a:cs typeface="Calibri"/>
              </a:rPr>
              <a:t>Hindi.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It</a:t>
            </a:r>
            <a:r>
              <a:rPr sz="2900" spc="60" dirty="0">
                <a:latin typeface="Calibri"/>
                <a:cs typeface="Calibri"/>
              </a:rPr>
              <a:t> </a:t>
            </a:r>
            <a:r>
              <a:rPr sz="2900" spc="-125" dirty="0">
                <a:latin typeface="Calibri"/>
                <a:cs typeface="Calibri"/>
              </a:rPr>
              <a:t>captures</a:t>
            </a:r>
            <a:r>
              <a:rPr sz="2900" spc="40" dirty="0">
                <a:latin typeface="Calibri"/>
                <a:cs typeface="Calibri"/>
              </a:rPr>
              <a:t> </a:t>
            </a:r>
            <a:r>
              <a:rPr sz="2900" spc="-170" dirty="0">
                <a:latin typeface="Calibri"/>
                <a:cs typeface="Calibri"/>
              </a:rPr>
              <a:t>the</a:t>
            </a:r>
            <a:r>
              <a:rPr sz="2900" spc="-110" dirty="0">
                <a:latin typeface="Calibri"/>
                <a:cs typeface="Calibri"/>
              </a:rPr>
              <a:t> </a:t>
            </a:r>
            <a:r>
              <a:rPr sz="2900" spc="-185" dirty="0">
                <a:latin typeface="Calibri"/>
                <a:cs typeface="Calibri"/>
              </a:rPr>
              <a:t>root</a:t>
            </a:r>
            <a:r>
              <a:rPr sz="2900" spc="-10" dirty="0">
                <a:latin typeface="Calibri"/>
                <a:cs typeface="Calibri"/>
              </a:rPr>
              <a:t> </a:t>
            </a:r>
            <a:r>
              <a:rPr sz="2900" spc="-155" dirty="0">
                <a:latin typeface="Calibri"/>
                <a:cs typeface="Calibri"/>
              </a:rPr>
              <a:t>meaning</a:t>
            </a:r>
            <a:r>
              <a:rPr sz="2900" spc="50" dirty="0">
                <a:latin typeface="Calibri"/>
                <a:cs typeface="Calibri"/>
              </a:rPr>
              <a:t> </a:t>
            </a:r>
            <a:r>
              <a:rPr sz="2900" spc="-165" dirty="0">
                <a:latin typeface="Calibri"/>
                <a:cs typeface="Calibri"/>
              </a:rPr>
              <a:t>even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spc="-120" dirty="0">
                <a:latin typeface="Calibri"/>
                <a:cs typeface="Calibri"/>
              </a:rPr>
              <a:t>if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70" dirty="0">
                <a:latin typeface="Calibri"/>
                <a:cs typeface="Calibri"/>
              </a:rPr>
              <a:t>the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spc="-130" dirty="0">
                <a:latin typeface="Calibri"/>
                <a:cs typeface="Calibri"/>
              </a:rPr>
              <a:t>inflection</a:t>
            </a:r>
            <a:r>
              <a:rPr sz="2900" spc="5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changes.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84218" y="4944533"/>
            <a:ext cx="1329690" cy="99186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2720">
              <a:lnSpc>
                <a:spcPts val="3165"/>
              </a:lnSpc>
              <a:spcBef>
                <a:spcPts val="114"/>
              </a:spcBef>
            </a:pPr>
            <a:r>
              <a:rPr sz="2900" spc="-10" dirty="0">
                <a:latin typeface="Calibri"/>
                <a:cs typeface="Calibri"/>
              </a:rPr>
              <a:t>chrF++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ts val="4425"/>
              </a:lnSpc>
              <a:tabLst>
                <a:tab pos="786765" algn="l"/>
              </a:tabLst>
            </a:pPr>
            <a:r>
              <a:rPr sz="3950" spc="-25" dirty="0">
                <a:solidFill>
                  <a:srgbClr val="2B2B2B"/>
                </a:solidFill>
                <a:latin typeface="Calibri"/>
                <a:cs typeface="Calibri"/>
              </a:rPr>
              <a:t>47.</a:t>
            </a:r>
            <a:r>
              <a:rPr sz="3950" dirty="0">
                <a:solidFill>
                  <a:srgbClr val="2B2B2B"/>
                </a:solidFill>
                <a:latin typeface="Calibri"/>
                <a:cs typeface="Calibri"/>
              </a:rPr>
              <a:t>	</a:t>
            </a:r>
            <a:r>
              <a:rPr sz="3950" spc="50" dirty="0">
                <a:solidFill>
                  <a:srgbClr val="2B2B2B"/>
                </a:solidFill>
                <a:latin typeface="Calibri"/>
                <a:cs typeface="Calibri"/>
              </a:rPr>
              <a:t>43</a:t>
            </a:r>
            <a:endParaRPr sz="3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7546" y="7916333"/>
            <a:ext cx="8983345" cy="1228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5240">
              <a:lnSpc>
                <a:spcPts val="3265"/>
              </a:lnSpc>
              <a:spcBef>
                <a:spcPts val="114"/>
              </a:spcBef>
            </a:pPr>
            <a:r>
              <a:rPr sz="2900" spc="-110" dirty="0">
                <a:latin typeface="Calibri"/>
                <a:cs typeface="Calibri"/>
              </a:rPr>
              <a:t>Why</a:t>
            </a:r>
            <a:r>
              <a:rPr sz="2900" spc="-1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BLEU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is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spc="-40" dirty="0">
                <a:latin typeface="Calibri"/>
                <a:cs typeface="Calibri"/>
              </a:rPr>
              <a:t>low</a:t>
            </a:r>
            <a:r>
              <a:rPr sz="2900" spc="-114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(15.19):</a:t>
            </a:r>
            <a:endParaRPr sz="2900">
              <a:latin typeface="Calibri"/>
              <a:cs typeface="Calibri"/>
            </a:endParaRPr>
          </a:p>
          <a:p>
            <a:pPr marL="20955">
              <a:lnSpc>
                <a:spcPts val="3045"/>
              </a:lnSpc>
            </a:pPr>
            <a:r>
              <a:rPr sz="2850" spc="-50" dirty="0">
                <a:latin typeface="Calibri"/>
                <a:cs typeface="Calibri"/>
              </a:rPr>
              <a:t>BLEU</a:t>
            </a:r>
            <a:r>
              <a:rPr sz="2850" spc="-125" dirty="0">
                <a:latin typeface="Calibri"/>
                <a:cs typeface="Calibri"/>
              </a:rPr>
              <a:t> </a:t>
            </a:r>
            <a:r>
              <a:rPr sz="2850" spc="-60" dirty="0">
                <a:latin typeface="Calibri"/>
                <a:cs typeface="Calibri"/>
              </a:rPr>
              <a:t>relies</a:t>
            </a:r>
            <a:r>
              <a:rPr sz="2850" spc="-100" dirty="0">
                <a:latin typeface="Calibri"/>
                <a:cs typeface="Calibri"/>
              </a:rPr>
              <a:t> </a:t>
            </a:r>
            <a:r>
              <a:rPr sz="2850" spc="-145" dirty="0">
                <a:latin typeface="Calibri"/>
                <a:cs typeface="Calibri"/>
              </a:rPr>
              <a:t>on</a:t>
            </a:r>
            <a:r>
              <a:rPr sz="2850" spc="-105" dirty="0">
                <a:latin typeface="Calibri"/>
                <a:cs typeface="Calibri"/>
              </a:rPr>
              <a:t> </a:t>
            </a:r>
            <a:r>
              <a:rPr sz="2850" spc="-65" dirty="0">
                <a:latin typeface="Calibri"/>
                <a:cs typeface="Calibri"/>
              </a:rPr>
              <a:t>exact</a:t>
            </a:r>
            <a:r>
              <a:rPr sz="2850" spc="-100" dirty="0">
                <a:latin typeface="Calibri"/>
                <a:cs typeface="Calibri"/>
              </a:rPr>
              <a:t> </a:t>
            </a:r>
            <a:r>
              <a:rPr sz="2850" spc="-95" dirty="0">
                <a:latin typeface="Calibri"/>
                <a:cs typeface="Calibri"/>
              </a:rPr>
              <a:t>n-</a:t>
            </a:r>
            <a:r>
              <a:rPr sz="2850" spc="-60" dirty="0">
                <a:latin typeface="Calibri"/>
                <a:cs typeface="Calibri"/>
              </a:rPr>
              <a:t>gram</a:t>
            </a:r>
            <a:r>
              <a:rPr sz="2850" spc="-100" dirty="0">
                <a:latin typeface="Calibri"/>
                <a:cs typeface="Calibri"/>
              </a:rPr>
              <a:t> </a:t>
            </a:r>
            <a:r>
              <a:rPr sz="2850" spc="-95" dirty="0">
                <a:latin typeface="Calibri"/>
                <a:cs typeface="Calibri"/>
              </a:rPr>
              <a:t>matching.</a:t>
            </a:r>
            <a:r>
              <a:rPr sz="2850" spc="15" dirty="0">
                <a:latin typeface="Calibri"/>
                <a:cs typeface="Calibri"/>
              </a:rPr>
              <a:t> </a:t>
            </a:r>
            <a:r>
              <a:rPr sz="2850" spc="-65" dirty="0">
                <a:latin typeface="Calibri"/>
                <a:cs typeface="Calibri"/>
              </a:rPr>
              <a:t>Hindi's</a:t>
            </a:r>
            <a:r>
              <a:rPr sz="2850" spc="-20" dirty="0">
                <a:latin typeface="Calibri"/>
                <a:cs typeface="Calibri"/>
              </a:rPr>
              <a:t> </a:t>
            </a:r>
            <a:r>
              <a:rPr sz="2850" spc="-70" dirty="0">
                <a:latin typeface="Calibri"/>
                <a:cs typeface="Calibri"/>
              </a:rPr>
              <a:t>flexible</a:t>
            </a:r>
            <a:r>
              <a:rPr sz="2850" spc="20" dirty="0">
                <a:latin typeface="Calibri"/>
                <a:cs typeface="Calibri"/>
              </a:rPr>
              <a:t> </a:t>
            </a:r>
            <a:r>
              <a:rPr sz="2850" spc="-175" dirty="0">
                <a:latin typeface="Calibri"/>
                <a:cs typeface="Calibri"/>
              </a:rPr>
              <a:t>word</a:t>
            </a:r>
            <a:r>
              <a:rPr sz="2850" spc="-60" dirty="0">
                <a:latin typeface="Calibri"/>
                <a:cs typeface="Calibri"/>
              </a:rPr>
              <a:t> </a:t>
            </a:r>
            <a:r>
              <a:rPr sz="2850" spc="-85" dirty="0">
                <a:latin typeface="Calibri"/>
                <a:cs typeface="Calibri"/>
              </a:rPr>
              <a:t>order</a:t>
            </a:r>
            <a:endParaRPr sz="2850">
              <a:latin typeface="Calibri"/>
              <a:cs typeface="Calibri"/>
            </a:endParaRPr>
          </a:p>
          <a:p>
            <a:pPr marL="12700">
              <a:lnSpc>
                <a:spcPts val="3140"/>
              </a:lnSpc>
            </a:pPr>
            <a:r>
              <a:rPr sz="2750" dirty="0">
                <a:latin typeface="Calibri"/>
                <a:cs typeface="Calibri"/>
              </a:rPr>
              <a:t>penalizes</a:t>
            </a:r>
            <a:r>
              <a:rPr sz="2750" spc="-7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BLEU</a:t>
            </a:r>
            <a:r>
              <a:rPr sz="2750" spc="-1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scores</a:t>
            </a:r>
            <a:r>
              <a:rPr sz="2750" spc="-95" dirty="0">
                <a:latin typeface="Calibri"/>
                <a:cs typeface="Calibri"/>
              </a:rPr>
              <a:t> </a:t>
            </a:r>
            <a:r>
              <a:rPr sz="2750" spc="-40" dirty="0">
                <a:latin typeface="Calibri"/>
                <a:cs typeface="Calibri"/>
              </a:rPr>
              <a:t>despite</a:t>
            </a:r>
            <a:r>
              <a:rPr sz="2750" spc="-114" dirty="0">
                <a:latin typeface="Calibri"/>
                <a:cs typeface="Calibri"/>
              </a:rPr>
              <a:t> </a:t>
            </a:r>
            <a:r>
              <a:rPr sz="2750" spc="-30" dirty="0">
                <a:latin typeface="Calibri"/>
                <a:cs typeface="Calibri"/>
              </a:rPr>
              <a:t>semantic</a:t>
            </a:r>
            <a:r>
              <a:rPr sz="2750" spc="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accuracy.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38920" y="4944533"/>
            <a:ext cx="1333500" cy="991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98780">
              <a:lnSpc>
                <a:spcPts val="3340"/>
              </a:lnSpc>
              <a:spcBef>
                <a:spcPts val="114"/>
              </a:spcBef>
            </a:pPr>
            <a:r>
              <a:rPr sz="2900" spc="-25" dirty="0">
                <a:latin typeface="Calibri"/>
                <a:cs typeface="Calibri"/>
              </a:rPr>
              <a:t>TER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ts val="4240"/>
              </a:lnSpc>
              <a:tabLst>
                <a:tab pos="798195" algn="l"/>
              </a:tabLst>
            </a:pPr>
            <a:r>
              <a:rPr sz="3650" spc="-25" dirty="0">
                <a:solidFill>
                  <a:srgbClr val="282828"/>
                </a:solidFill>
                <a:latin typeface="Cambria"/>
                <a:cs typeface="Cambria"/>
              </a:rPr>
              <a:t>71.</a:t>
            </a:r>
            <a:r>
              <a:rPr sz="3650" dirty="0">
                <a:solidFill>
                  <a:srgbClr val="282828"/>
                </a:solidFill>
                <a:latin typeface="Cambria"/>
                <a:cs typeface="Cambria"/>
              </a:rPr>
              <a:t>	</a:t>
            </a:r>
            <a:r>
              <a:rPr sz="3650" spc="-25" dirty="0">
                <a:solidFill>
                  <a:srgbClr val="282828"/>
                </a:solidFill>
                <a:latin typeface="Cambria"/>
                <a:cs typeface="Cambria"/>
              </a:rPr>
              <a:t>93</a:t>
            </a:r>
            <a:endParaRPr sz="36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269085" y="4944533"/>
            <a:ext cx="1185545" cy="10020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115"/>
              </a:lnSpc>
              <a:spcBef>
                <a:spcPts val="114"/>
              </a:spcBef>
            </a:pPr>
            <a:r>
              <a:rPr sz="2900" spc="-180" dirty="0">
                <a:latin typeface="Calibri"/>
                <a:cs typeface="Calibri"/>
              </a:rPr>
              <a:t>METEOR</a:t>
            </a:r>
            <a:endParaRPr sz="2900">
              <a:latin typeface="Calibri"/>
              <a:cs typeface="Calibri"/>
            </a:endParaRPr>
          </a:p>
          <a:p>
            <a:pPr marL="76200">
              <a:lnSpc>
                <a:spcPts val="4555"/>
              </a:lnSpc>
            </a:pPr>
            <a:r>
              <a:rPr sz="4100" spc="225" dirty="0">
                <a:solidFill>
                  <a:srgbClr val="262626"/>
                </a:solidFill>
                <a:latin typeface="Calibri"/>
                <a:cs typeface="Calibri"/>
              </a:rPr>
              <a:t>0.32</a:t>
            </a:r>
            <a:endParaRPr sz="4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259191" y="6487583"/>
            <a:ext cx="5052060" cy="24130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900" dirty="0">
                <a:latin typeface="Calibri"/>
                <a:cs typeface="Calibri"/>
              </a:rPr>
              <a:t>Real</a:t>
            </a:r>
            <a:r>
              <a:rPr sz="2900" spc="-170" dirty="0">
                <a:latin typeface="Calibri"/>
                <a:cs typeface="Calibri"/>
              </a:rPr>
              <a:t> </a:t>
            </a:r>
            <a:r>
              <a:rPr sz="2900" spc="-85" dirty="0">
                <a:latin typeface="Calibri"/>
                <a:cs typeface="Calibri"/>
              </a:rPr>
              <a:t>World</a:t>
            </a:r>
            <a:r>
              <a:rPr sz="2900" spc="10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Result</a:t>
            </a:r>
            <a:endParaRPr sz="2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r>
              <a:rPr sz="2900" spc="-10" dirty="0">
                <a:latin typeface="Calibri"/>
                <a:cs typeface="Calibri"/>
              </a:rPr>
              <a:t>Input:</a:t>
            </a:r>
            <a:r>
              <a:rPr sz="2900" spc="-155" dirty="0">
                <a:latin typeface="Calibri"/>
                <a:cs typeface="Calibri"/>
              </a:rPr>
              <a:t> </a:t>
            </a:r>
            <a:r>
              <a:rPr sz="2900" spc="-120" dirty="0">
                <a:latin typeface="Calibri"/>
                <a:cs typeface="Calibri"/>
              </a:rPr>
              <a:t>“fictitious</a:t>
            </a:r>
            <a:r>
              <a:rPr sz="2900" spc="75" dirty="0">
                <a:latin typeface="Calibri"/>
                <a:cs typeface="Calibri"/>
              </a:rPr>
              <a:t> </a:t>
            </a:r>
            <a:r>
              <a:rPr sz="2900" spc="-175" dirty="0">
                <a:latin typeface="Calibri"/>
                <a:cs typeface="Calibri"/>
              </a:rPr>
              <a:t>fort</a:t>
            </a:r>
            <a:r>
              <a:rPr sz="2900" spc="-100" dirty="0">
                <a:latin typeface="Calibri"/>
                <a:cs typeface="Calibri"/>
              </a:rPr>
              <a:t> </a:t>
            </a:r>
            <a:r>
              <a:rPr sz="2900" spc="-60" dirty="0">
                <a:latin typeface="Calibri"/>
                <a:cs typeface="Calibri"/>
              </a:rPr>
              <a:t>Duttgarh"</a:t>
            </a:r>
            <a:endParaRPr sz="29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520"/>
              </a:spcBef>
              <a:tabLst>
                <a:tab pos="4080510" algn="l"/>
              </a:tabLst>
            </a:pPr>
            <a:r>
              <a:rPr sz="2850" spc="-35" dirty="0">
                <a:latin typeface="Calibri"/>
                <a:cs typeface="Calibri"/>
              </a:rPr>
              <a:t>Prediction:</a:t>
            </a:r>
            <a:r>
              <a:rPr sz="2850" spc="-50" dirty="0">
                <a:latin typeface="Calibri"/>
                <a:cs typeface="Calibri"/>
              </a:rPr>
              <a:t> "</a:t>
            </a:r>
            <a:r>
              <a:rPr sz="2850" dirty="0">
                <a:latin typeface="Calibri"/>
                <a:cs typeface="Calibri"/>
              </a:rPr>
              <a:t>	</a:t>
            </a:r>
            <a:r>
              <a:rPr sz="2850" spc="-25" dirty="0">
                <a:latin typeface="Calibri"/>
                <a:cs typeface="Calibri"/>
              </a:rPr>
              <a:t>."</a:t>
            </a:r>
            <a:endParaRPr sz="2850">
              <a:latin typeface="Calibri"/>
              <a:cs typeface="Calibri"/>
            </a:endParaRPr>
          </a:p>
          <a:p>
            <a:pPr marL="15875" marR="5080" indent="8255">
              <a:lnSpc>
                <a:spcPts val="3000"/>
              </a:lnSpc>
              <a:spcBef>
                <a:spcPts val="980"/>
              </a:spcBef>
            </a:pPr>
            <a:r>
              <a:rPr sz="2900" spc="-35" dirty="0">
                <a:latin typeface="Calibri"/>
                <a:cs typeface="Calibri"/>
              </a:rPr>
              <a:t>Analysis: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spc="-130" dirty="0">
                <a:latin typeface="Calibri"/>
                <a:cs typeface="Calibri"/>
              </a:rPr>
              <a:t>Correctly</a:t>
            </a:r>
            <a:r>
              <a:rPr sz="2900" spc="10" dirty="0">
                <a:latin typeface="Calibri"/>
                <a:cs typeface="Calibri"/>
              </a:rPr>
              <a:t> </a:t>
            </a:r>
            <a:r>
              <a:rPr sz="2900" spc="-125" dirty="0">
                <a:latin typeface="Calibri"/>
                <a:cs typeface="Calibri"/>
              </a:rPr>
              <a:t>transliterated</a:t>
            </a:r>
            <a:r>
              <a:rPr sz="2900" spc="-130" dirty="0">
                <a:latin typeface="Calibri"/>
                <a:cs typeface="Calibri"/>
              </a:rPr>
              <a:t> </a:t>
            </a:r>
            <a:r>
              <a:rPr sz="2900" spc="-60" dirty="0">
                <a:latin typeface="Calibri"/>
                <a:cs typeface="Calibri"/>
              </a:rPr>
              <a:t>the </a:t>
            </a:r>
            <a:r>
              <a:rPr sz="2900" spc="-170" dirty="0">
                <a:latin typeface="Calibri"/>
                <a:cs typeface="Calibri"/>
              </a:rPr>
              <a:t>proper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210" dirty="0">
                <a:latin typeface="Calibri"/>
                <a:cs typeface="Calibri"/>
              </a:rPr>
              <a:t>noun</a:t>
            </a:r>
            <a:r>
              <a:rPr sz="2900" spc="60" dirty="0">
                <a:latin typeface="Calibri"/>
                <a:cs typeface="Calibri"/>
              </a:rPr>
              <a:t> </a:t>
            </a:r>
            <a:r>
              <a:rPr sz="2900" spc="-75" dirty="0">
                <a:latin typeface="Calibri"/>
                <a:cs typeface="Calibri"/>
              </a:rPr>
              <a:t>'Duttgarh'.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500" y="3086100"/>
            <a:ext cx="1422400" cy="1422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04200" y="3086100"/>
            <a:ext cx="1066800" cy="140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63600" y="3086100"/>
            <a:ext cx="1206500" cy="14224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93750" y="2705100"/>
            <a:ext cx="0" cy="6346190"/>
          </a:xfrm>
          <a:custGeom>
            <a:avLst/>
            <a:gdLst/>
            <a:ahLst/>
            <a:cxnLst/>
            <a:rect l="l" t="t" r="r" b="b"/>
            <a:pathLst>
              <a:path h="6346190">
                <a:moveTo>
                  <a:pt x="0" y="6345766"/>
                </a:moveTo>
                <a:lnTo>
                  <a:pt x="0" y="0"/>
                </a:lnTo>
              </a:path>
            </a:pathLst>
          </a:custGeom>
          <a:ln w="21166">
            <a:solidFill>
              <a:srgbClr val="34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3316" y="8991600"/>
            <a:ext cx="0" cy="59690"/>
          </a:xfrm>
          <a:custGeom>
            <a:avLst/>
            <a:gdLst/>
            <a:ahLst/>
            <a:cxnLst/>
            <a:rect l="l" t="t" r="r" b="b"/>
            <a:pathLst>
              <a:path h="59690">
                <a:moveTo>
                  <a:pt x="0" y="0"/>
                </a:moveTo>
                <a:lnTo>
                  <a:pt x="0" y="59266"/>
                </a:lnTo>
              </a:path>
            </a:pathLst>
          </a:custGeom>
          <a:ln w="21166">
            <a:solidFill>
              <a:srgbClr val="34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3166" y="2715683"/>
            <a:ext cx="4995545" cy="0"/>
          </a:xfrm>
          <a:custGeom>
            <a:avLst/>
            <a:gdLst/>
            <a:ahLst/>
            <a:cxnLst/>
            <a:rect l="l" t="t" r="r" b="b"/>
            <a:pathLst>
              <a:path w="4995545">
                <a:moveTo>
                  <a:pt x="0" y="0"/>
                </a:moveTo>
                <a:lnTo>
                  <a:pt x="4995333" y="0"/>
                </a:lnTo>
              </a:path>
            </a:pathLst>
          </a:custGeom>
          <a:ln w="21166">
            <a:solidFill>
              <a:srgbClr val="34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83166" y="2705100"/>
            <a:ext cx="5071745" cy="6346190"/>
            <a:chOff x="783166" y="2705100"/>
            <a:chExt cx="5071745" cy="6346190"/>
          </a:xfrm>
        </p:grpSpPr>
        <p:sp>
          <p:nvSpPr>
            <p:cNvPr id="9" name="object 9"/>
            <p:cNvSpPr/>
            <p:nvPr/>
          </p:nvSpPr>
          <p:spPr>
            <a:xfrm>
              <a:off x="783166" y="9040283"/>
              <a:ext cx="5020945" cy="0"/>
            </a:xfrm>
            <a:custGeom>
              <a:avLst/>
              <a:gdLst/>
              <a:ahLst/>
              <a:cxnLst/>
              <a:rect l="l" t="t" r="r" b="b"/>
              <a:pathLst>
                <a:path w="5020945">
                  <a:moveTo>
                    <a:pt x="0" y="0"/>
                  </a:moveTo>
                  <a:lnTo>
                    <a:pt x="5020733" y="0"/>
                  </a:lnTo>
                </a:path>
              </a:pathLst>
            </a:custGeom>
            <a:ln w="21166">
              <a:solidFill>
                <a:srgbClr val="34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16600" y="2705100"/>
              <a:ext cx="0" cy="6286500"/>
            </a:xfrm>
            <a:custGeom>
              <a:avLst/>
              <a:gdLst/>
              <a:ahLst/>
              <a:cxnLst/>
              <a:rect l="l" t="t" r="r" b="b"/>
              <a:pathLst>
                <a:path h="6286500">
                  <a:moveTo>
                    <a:pt x="0" y="6286500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1643783" y="2705100"/>
            <a:ext cx="0" cy="6346190"/>
          </a:xfrm>
          <a:custGeom>
            <a:avLst/>
            <a:gdLst/>
            <a:ahLst/>
            <a:cxnLst/>
            <a:rect l="l" t="t" r="r" b="b"/>
            <a:pathLst>
              <a:path h="6346190">
                <a:moveTo>
                  <a:pt x="0" y="6345766"/>
                </a:moveTo>
                <a:lnTo>
                  <a:pt x="0" y="0"/>
                </a:lnTo>
              </a:path>
            </a:pathLst>
          </a:custGeom>
          <a:ln w="21166">
            <a:solidFill>
              <a:srgbClr val="343B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11633200" y="2705100"/>
            <a:ext cx="5067300" cy="6346190"/>
            <a:chOff x="11633200" y="2705100"/>
            <a:chExt cx="5067300" cy="6346190"/>
          </a:xfrm>
        </p:grpSpPr>
        <p:sp>
          <p:nvSpPr>
            <p:cNvPr id="13" name="object 13"/>
            <p:cNvSpPr/>
            <p:nvPr/>
          </p:nvSpPr>
          <p:spPr>
            <a:xfrm>
              <a:off x="16639112" y="2705100"/>
              <a:ext cx="0" cy="6346190"/>
            </a:xfrm>
            <a:custGeom>
              <a:avLst/>
              <a:gdLst/>
              <a:ahLst/>
              <a:cxnLst/>
              <a:rect l="l" t="t" r="r" b="b"/>
              <a:pathLst>
                <a:path h="6346190">
                  <a:moveTo>
                    <a:pt x="0" y="63457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34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633200" y="2715683"/>
              <a:ext cx="5016500" cy="0"/>
            </a:xfrm>
            <a:custGeom>
              <a:avLst/>
              <a:gdLst/>
              <a:ahLst/>
              <a:cxnLst/>
              <a:rect l="l" t="t" r="r" b="b"/>
              <a:pathLst>
                <a:path w="5016500">
                  <a:moveTo>
                    <a:pt x="0" y="0"/>
                  </a:moveTo>
                  <a:lnTo>
                    <a:pt x="5016500" y="0"/>
                  </a:lnTo>
                </a:path>
              </a:pathLst>
            </a:custGeom>
            <a:ln w="21166">
              <a:solidFill>
                <a:srgbClr val="34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633200" y="9040283"/>
              <a:ext cx="5016500" cy="0"/>
            </a:xfrm>
            <a:custGeom>
              <a:avLst/>
              <a:gdLst/>
              <a:ahLst/>
              <a:cxnLst/>
              <a:rect l="l" t="t" r="r" b="b"/>
              <a:pathLst>
                <a:path w="5016500">
                  <a:moveTo>
                    <a:pt x="0" y="0"/>
                  </a:moveTo>
                  <a:lnTo>
                    <a:pt x="5016500" y="0"/>
                  </a:lnTo>
                </a:path>
              </a:pathLst>
            </a:custGeom>
            <a:ln w="21166">
              <a:solidFill>
                <a:srgbClr val="34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668750" y="2717800"/>
              <a:ext cx="0" cy="5384800"/>
            </a:xfrm>
            <a:custGeom>
              <a:avLst/>
              <a:gdLst/>
              <a:ahLst/>
              <a:cxnLst/>
              <a:rect l="l" t="t" r="r" b="b"/>
              <a:pathLst>
                <a:path h="5384800">
                  <a:moveTo>
                    <a:pt x="0" y="5384800"/>
                  </a:moveTo>
                  <a:lnTo>
                    <a:pt x="0" y="0"/>
                  </a:lnTo>
                </a:path>
              </a:pathLst>
            </a:custGeom>
            <a:ln w="63500">
              <a:solidFill>
                <a:srgbClr val="232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09594" y="609952"/>
            <a:ext cx="3273425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45" dirty="0">
                <a:solidFill>
                  <a:srgbClr val="181818"/>
                </a:solidFill>
                <a:latin typeface="Arial MT"/>
                <a:cs typeface="Arial MT"/>
              </a:rPr>
              <a:t>Engineering</a:t>
            </a:r>
            <a:r>
              <a:rPr sz="2850" spc="-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850" spc="-30" dirty="0">
                <a:solidFill>
                  <a:srgbClr val="161616"/>
                </a:solidFill>
                <a:latin typeface="Arial MT"/>
                <a:cs typeface="Arial MT"/>
              </a:rPr>
              <a:t>Editorial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790111" y="957438"/>
            <a:ext cx="11620500" cy="1147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350" spc="-135" dirty="0">
                <a:solidFill>
                  <a:srgbClr val="2D2D2D"/>
                </a:solidFill>
                <a:latin typeface="Arial MT"/>
                <a:cs typeface="Arial MT"/>
              </a:rPr>
              <a:t>Responsible</a:t>
            </a:r>
            <a:r>
              <a:rPr sz="7350" spc="-28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7350" spc="-165" dirty="0">
                <a:latin typeface="Arial MT"/>
                <a:cs typeface="Arial MT"/>
              </a:rPr>
              <a:t>AI:</a:t>
            </a:r>
            <a:r>
              <a:rPr sz="7350" spc="-775" dirty="0">
                <a:latin typeface="Arial MT"/>
                <a:cs typeface="Arial MT"/>
              </a:rPr>
              <a:t> </a:t>
            </a:r>
            <a:r>
              <a:rPr sz="7350" spc="-45" dirty="0">
                <a:solidFill>
                  <a:srgbClr val="2D2D2D"/>
                </a:solidFill>
                <a:latin typeface="Arial MT"/>
                <a:cs typeface="Arial MT"/>
              </a:rPr>
              <a:t>Ethics</a:t>
            </a:r>
            <a:r>
              <a:rPr sz="7350" spc="-46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7350" spc="-345" dirty="0">
                <a:solidFill>
                  <a:srgbClr val="2D2D2D"/>
                </a:solidFill>
                <a:latin typeface="Arial MT"/>
                <a:cs typeface="Arial MT"/>
              </a:rPr>
              <a:t>&amp;</a:t>
            </a:r>
            <a:r>
              <a:rPr sz="7350" spc="-73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7350" spc="-150" dirty="0">
                <a:solidFill>
                  <a:srgbClr val="2D2D2D"/>
                </a:solidFill>
                <a:latin typeface="Arial MT"/>
                <a:cs typeface="Arial MT"/>
              </a:rPr>
              <a:t>Bias</a:t>
            </a:r>
            <a:endParaRPr sz="73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4333" y="4840816"/>
            <a:ext cx="4974590" cy="35985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6990" algn="ctr">
              <a:lnSpc>
                <a:spcPct val="100000"/>
              </a:lnSpc>
              <a:spcBef>
                <a:spcPts val="130"/>
              </a:spcBef>
            </a:pPr>
            <a:r>
              <a:rPr sz="3300" spc="130" dirty="0">
                <a:solidFill>
                  <a:srgbClr val="262626"/>
                </a:solidFill>
                <a:latin typeface="Cambria"/>
                <a:cs typeface="Cambria"/>
              </a:rPr>
              <a:t>Gender</a:t>
            </a:r>
            <a:r>
              <a:rPr sz="3300" spc="90" dirty="0">
                <a:solidFill>
                  <a:srgbClr val="262626"/>
                </a:solidFill>
                <a:latin typeface="Cambria"/>
                <a:cs typeface="Cambria"/>
              </a:rPr>
              <a:t> </a:t>
            </a:r>
            <a:r>
              <a:rPr sz="3300" spc="105" dirty="0">
                <a:solidFill>
                  <a:srgbClr val="262626"/>
                </a:solidFill>
                <a:latin typeface="Cambria"/>
                <a:cs typeface="Cambria"/>
              </a:rPr>
              <a:t>Bias</a:t>
            </a:r>
            <a:endParaRPr sz="3300">
              <a:latin typeface="Cambria"/>
              <a:cs typeface="Cambria"/>
            </a:endParaRPr>
          </a:p>
          <a:p>
            <a:pPr marL="315595" marR="438784" indent="3175">
              <a:lnSpc>
                <a:spcPct val="95900"/>
              </a:lnSpc>
              <a:spcBef>
                <a:spcPts val="3015"/>
              </a:spcBef>
              <a:tabLst>
                <a:tab pos="2691765" algn="l"/>
                <a:tab pos="3726179" algn="l"/>
              </a:tabLst>
            </a:pPr>
            <a:r>
              <a:rPr sz="2550" dirty="0">
                <a:latin typeface="Cambria"/>
                <a:cs typeface="Cambria"/>
              </a:rPr>
              <a:t>Hindi</a:t>
            </a:r>
            <a:r>
              <a:rPr sz="2550" spc="-7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has</a:t>
            </a:r>
            <a:r>
              <a:rPr sz="2550" spc="-114" dirty="0">
                <a:latin typeface="Cambria"/>
                <a:cs typeface="Cambria"/>
              </a:rPr>
              <a:t> </a:t>
            </a:r>
            <a:r>
              <a:rPr sz="2550" spc="-50" dirty="0">
                <a:latin typeface="Cambria"/>
                <a:cs typeface="Cambria"/>
              </a:rPr>
              <a:t>grammatical</a:t>
            </a:r>
            <a:r>
              <a:rPr sz="2550" spc="70" dirty="0">
                <a:latin typeface="Cambria"/>
                <a:cs typeface="Cambria"/>
              </a:rPr>
              <a:t> </a:t>
            </a:r>
            <a:r>
              <a:rPr sz="2550" spc="-10" dirty="0">
                <a:latin typeface="Cambria"/>
                <a:cs typeface="Cambria"/>
              </a:rPr>
              <a:t>gender. </a:t>
            </a:r>
            <a:r>
              <a:rPr sz="2500" dirty="0">
                <a:latin typeface="Cambria"/>
                <a:cs typeface="Cambria"/>
              </a:rPr>
              <a:t>The</a:t>
            </a:r>
            <a:r>
              <a:rPr sz="2500" spc="-20" dirty="0">
                <a:latin typeface="Cambria"/>
                <a:cs typeface="Cambria"/>
              </a:rPr>
              <a:t> model</a:t>
            </a:r>
            <a:r>
              <a:rPr sz="2500" spc="-95" dirty="0">
                <a:latin typeface="Cambria"/>
                <a:cs typeface="Cambria"/>
              </a:rPr>
              <a:t> </a:t>
            </a:r>
            <a:r>
              <a:rPr sz="2500" spc="-30" dirty="0">
                <a:latin typeface="Cambria"/>
                <a:cs typeface="Cambria"/>
              </a:rPr>
              <a:t>currently </a:t>
            </a:r>
            <a:r>
              <a:rPr sz="2500" spc="-20" dirty="0">
                <a:latin typeface="Cambria"/>
                <a:cs typeface="Cambria"/>
              </a:rPr>
              <a:t>defaults</a:t>
            </a:r>
            <a:r>
              <a:rPr sz="2500" spc="-8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to </a:t>
            </a:r>
            <a:r>
              <a:rPr sz="2600" spc="-55" dirty="0">
                <a:latin typeface="Cambria"/>
                <a:cs typeface="Cambria"/>
              </a:rPr>
              <a:t>masculine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spc="-60" dirty="0">
                <a:latin typeface="Cambria"/>
                <a:cs typeface="Cambria"/>
              </a:rPr>
              <a:t>forms</a:t>
            </a:r>
            <a:r>
              <a:rPr sz="2600" spc="-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(e.g.,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‘I</a:t>
            </a:r>
            <a:r>
              <a:rPr sz="2600" spc="-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am</a:t>
            </a:r>
            <a:r>
              <a:rPr sz="2600" spc="-80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a </a:t>
            </a:r>
            <a:r>
              <a:rPr sz="2550" spc="-40" dirty="0">
                <a:latin typeface="Cambria"/>
                <a:cs typeface="Cambria"/>
              </a:rPr>
              <a:t>teacher’</a:t>
            </a:r>
            <a:r>
              <a:rPr sz="2550" spc="-55" dirty="0">
                <a:latin typeface="Cambria"/>
                <a:cs typeface="Cambria"/>
              </a:rPr>
              <a:t> </a:t>
            </a:r>
            <a:r>
              <a:rPr sz="2550" spc="-900" dirty="0">
                <a:latin typeface="Cambria"/>
                <a:cs typeface="Cambria"/>
              </a:rPr>
              <a:t>—</a:t>
            </a:r>
            <a:r>
              <a:rPr sz="2550" spc="-545" dirty="0">
                <a:latin typeface="Cambria"/>
                <a:cs typeface="Cambria"/>
              </a:rPr>
              <a:t>+</a:t>
            </a:r>
            <a:r>
              <a:rPr sz="2550" dirty="0">
                <a:latin typeface="Cambria"/>
                <a:cs typeface="Cambria"/>
              </a:rPr>
              <a:t>	</a:t>
            </a:r>
            <a:r>
              <a:rPr sz="2550" spc="-305" dirty="0">
                <a:latin typeface="Cambria"/>
                <a:cs typeface="Cambria"/>
              </a:rPr>
              <a:t>Jf</a:t>
            </a:r>
            <a:r>
              <a:rPr sz="2550" dirty="0">
                <a:latin typeface="Cambria"/>
                <a:cs typeface="Cambria"/>
              </a:rPr>
              <a:t>	</a:t>
            </a:r>
            <a:r>
              <a:rPr sz="2550" spc="-25" dirty="0">
                <a:latin typeface="Cambria"/>
                <a:cs typeface="Cambria"/>
              </a:rPr>
              <a:t>’).</a:t>
            </a:r>
            <a:endParaRPr sz="2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2550">
              <a:latin typeface="Cambria"/>
              <a:cs typeface="Cambria"/>
            </a:endParaRPr>
          </a:p>
          <a:p>
            <a:pPr marL="334645" marR="829310">
              <a:lnSpc>
                <a:spcPct val="100000"/>
              </a:lnSpc>
              <a:spcBef>
                <a:spcPts val="5"/>
              </a:spcBef>
              <a:tabLst>
                <a:tab pos="2440305" algn="l"/>
                <a:tab pos="2803525" algn="l"/>
              </a:tabLst>
            </a:pPr>
            <a:r>
              <a:rPr sz="2500" spc="-315" dirty="0">
                <a:solidFill>
                  <a:srgbClr val="915744"/>
                </a:solidFill>
                <a:latin typeface="Cambria"/>
                <a:cs typeface="Cambria"/>
              </a:rPr>
              <a:t>X</a:t>
            </a:r>
            <a:r>
              <a:rPr sz="2500" spc="-250" dirty="0">
                <a:solidFill>
                  <a:srgbClr val="915744"/>
                </a:solidFill>
                <a:latin typeface="Cambria"/>
                <a:cs typeface="Cambria"/>
              </a:rPr>
              <a:t> </a:t>
            </a:r>
            <a:r>
              <a:rPr sz="2500" spc="260" dirty="0">
                <a:solidFill>
                  <a:srgbClr val="9A624F"/>
                </a:solidFill>
                <a:latin typeface="Cambria"/>
                <a:cs typeface="Cambria"/>
              </a:rPr>
              <a:t>1tigation</a:t>
            </a:r>
            <a:r>
              <a:rPr sz="2500" spc="40" dirty="0">
                <a:solidFill>
                  <a:srgbClr val="9A624F"/>
                </a:solidFill>
                <a:latin typeface="Cambria"/>
                <a:cs typeface="Cambria"/>
              </a:rPr>
              <a:t> </a:t>
            </a:r>
            <a:r>
              <a:rPr sz="2500" spc="114" dirty="0">
                <a:solidFill>
                  <a:srgbClr val="A16754"/>
                </a:solidFill>
                <a:latin typeface="Cambria"/>
                <a:cs typeface="Cambria"/>
              </a:rPr>
              <a:t>:</a:t>
            </a:r>
            <a:r>
              <a:rPr sz="2500" dirty="0">
                <a:solidFill>
                  <a:srgbClr val="A16754"/>
                </a:solidFill>
                <a:latin typeface="Cambria"/>
                <a:cs typeface="Cambria"/>
              </a:rPr>
              <a:t>	</a:t>
            </a:r>
            <a:r>
              <a:rPr sz="2500" spc="125" dirty="0">
                <a:solidFill>
                  <a:srgbClr val="906D5D"/>
                </a:solidFill>
                <a:latin typeface="Cambria"/>
                <a:cs typeface="Cambria"/>
              </a:rPr>
              <a:t>Future </a:t>
            </a:r>
            <a:r>
              <a:rPr sz="2500" spc="175" dirty="0">
                <a:solidFill>
                  <a:srgbClr val="A5725D"/>
                </a:solidFill>
                <a:latin typeface="Cambria"/>
                <a:cs typeface="Cambria"/>
              </a:rPr>
              <a:t>context</a:t>
            </a:r>
            <a:r>
              <a:rPr sz="2500" spc="-35" dirty="0">
                <a:solidFill>
                  <a:srgbClr val="A5725D"/>
                </a:solidFill>
                <a:latin typeface="Cambria"/>
                <a:cs typeface="Cambria"/>
              </a:rPr>
              <a:t> </a:t>
            </a:r>
            <a:r>
              <a:rPr sz="2500" spc="140" dirty="0">
                <a:solidFill>
                  <a:srgbClr val="855E4F"/>
                </a:solidFill>
                <a:latin typeface="Cambria"/>
                <a:cs typeface="Cambria"/>
              </a:rPr>
              <a:t>-</a:t>
            </a:r>
            <a:r>
              <a:rPr sz="2500" spc="-285" dirty="0">
                <a:solidFill>
                  <a:srgbClr val="855E4F"/>
                </a:solidFill>
                <a:latin typeface="Cambria"/>
                <a:cs typeface="Cambria"/>
              </a:rPr>
              <a:t> </a:t>
            </a:r>
            <a:r>
              <a:rPr sz="2500" spc="-10" dirty="0">
                <a:solidFill>
                  <a:srgbClr val="A37C70"/>
                </a:solidFill>
                <a:latin typeface="Cambria"/>
                <a:cs typeface="Cambria"/>
              </a:rPr>
              <a:t>amaze</a:t>
            </a:r>
            <a:r>
              <a:rPr sz="2500" dirty="0">
                <a:solidFill>
                  <a:srgbClr val="A37C70"/>
                </a:solidFill>
                <a:latin typeface="Cambria"/>
                <a:cs typeface="Cambria"/>
              </a:rPr>
              <a:t>	</a:t>
            </a:r>
            <a:r>
              <a:rPr sz="2500" spc="55" dirty="0">
                <a:solidFill>
                  <a:srgbClr val="A7806E"/>
                </a:solidFill>
                <a:latin typeface="Cambria"/>
                <a:cs typeface="Cambria"/>
              </a:rPr>
              <a:t>pzonpzs</a:t>
            </a:r>
            <a:r>
              <a:rPr sz="2500" spc="145" dirty="0">
                <a:solidFill>
                  <a:srgbClr val="A7806E"/>
                </a:solidFill>
                <a:latin typeface="Cambria"/>
                <a:cs typeface="Cambria"/>
              </a:rPr>
              <a:t> </a:t>
            </a:r>
            <a:r>
              <a:rPr sz="2500" spc="-50" dirty="0">
                <a:solidFill>
                  <a:srgbClr val="905B4B"/>
                </a:solidFill>
                <a:latin typeface="Cambria"/>
                <a:cs typeface="Cambria"/>
              </a:rPr>
              <a:t>.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99716" y="2728383"/>
            <a:ext cx="5029200" cy="6290945"/>
          </a:xfrm>
          <a:prstGeom prst="rect">
            <a:avLst/>
          </a:prstGeom>
          <a:ln w="21166">
            <a:solidFill>
              <a:srgbClr val="2B343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3300">
              <a:latin typeface="Times New Roman"/>
              <a:cs typeface="Times New Roman"/>
            </a:endParaRPr>
          </a:p>
          <a:p>
            <a:pPr marL="22225" algn="ctr">
              <a:lnSpc>
                <a:spcPct val="100000"/>
              </a:lnSpc>
            </a:pPr>
            <a:r>
              <a:rPr sz="3300" dirty="0">
                <a:solidFill>
                  <a:srgbClr val="282828"/>
                </a:solidFill>
                <a:latin typeface="Arial MT"/>
                <a:cs typeface="Arial MT"/>
              </a:rPr>
              <a:t>Regional</a:t>
            </a:r>
            <a:r>
              <a:rPr sz="3300" spc="-2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3300" spc="-20" dirty="0">
                <a:solidFill>
                  <a:srgbClr val="212121"/>
                </a:solidFill>
                <a:latin typeface="Arial MT"/>
                <a:cs typeface="Arial MT"/>
              </a:rPr>
              <a:t>Gaps</a:t>
            </a:r>
            <a:endParaRPr sz="3300">
              <a:latin typeface="Arial MT"/>
              <a:cs typeface="Arial MT"/>
            </a:endParaRPr>
          </a:p>
          <a:p>
            <a:pPr marL="337185" marR="99695" indent="5080">
              <a:lnSpc>
                <a:spcPct val="96400"/>
              </a:lnSpc>
              <a:spcBef>
                <a:spcPts val="2955"/>
              </a:spcBef>
            </a:pPr>
            <a:r>
              <a:rPr sz="2600" spc="-75" dirty="0">
                <a:latin typeface="Cambria"/>
                <a:cs typeface="Cambria"/>
              </a:rPr>
              <a:t>Training</a:t>
            </a:r>
            <a:r>
              <a:rPr sz="2600" spc="35" dirty="0">
                <a:latin typeface="Cambria"/>
                <a:cs typeface="Cambria"/>
              </a:rPr>
              <a:t> </a:t>
            </a:r>
            <a:r>
              <a:rPr sz="2600" spc="-110" dirty="0">
                <a:latin typeface="Cambria"/>
                <a:cs typeface="Cambria"/>
              </a:rPr>
              <a:t>data</a:t>
            </a:r>
            <a:r>
              <a:rPr sz="2600" spc="-60" dirty="0">
                <a:latin typeface="Cambria"/>
                <a:cs typeface="Cambria"/>
              </a:rPr>
              <a:t> </a:t>
            </a:r>
            <a:r>
              <a:rPr sz="2600" spc="-90" dirty="0">
                <a:latin typeface="Cambria"/>
                <a:cs typeface="Cambria"/>
              </a:rPr>
              <a:t>(Khari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Boli) </a:t>
            </a:r>
            <a:r>
              <a:rPr sz="2500" spc="-20" dirty="0">
                <a:latin typeface="Cambria"/>
                <a:cs typeface="Cambria"/>
              </a:rPr>
              <a:t>excludes</a:t>
            </a:r>
            <a:r>
              <a:rPr sz="2500" spc="-11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dialects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spc="-20" dirty="0">
                <a:latin typeface="Cambria"/>
                <a:cs typeface="Cambria"/>
              </a:rPr>
              <a:t>like</a:t>
            </a:r>
            <a:r>
              <a:rPr sz="2500" spc="-120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Bhojpuri</a:t>
            </a:r>
            <a:r>
              <a:rPr sz="2500" spc="-1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or </a:t>
            </a:r>
            <a:r>
              <a:rPr sz="2600" spc="-90" dirty="0">
                <a:latin typeface="Cambria"/>
                <a:cs typeface="Cambria"/>
              </a:rPr>
              <a:t>Awadhi.</a:t>
            </a:r>
            <a:r>
              <a:rPr sz="2600" spc="-35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The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85" dirty="0">
                <a:latin typeface="Cambria"/>
                <a:cs typeface="Cambria"/>
              </a:rPr>
              <a:t>system</a:t>
            </a:r>
            <a:r>
              <a:rPr sz="2600" spc="30" dirty="0">
                <a:latin typeface="Cambria"/>
                <a:cs typeface="Cambria"/>
              </a:rPr>
              <a:t> </a:t>
            </a:r>
            <a:r>
              <a:rPr sz="2600" spc="-90" dirty="0">
                <a:latin typeface="Cambria"/>
                <a:cs typeface="Cambria"/>
              </a:rPr>
              <a:t>performs</a:t>
            </a:r>
            <a:r>
              <a:rPr sz="2600" spc="-55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best</a:t>
            </a:r>
            <a:endParaRPr sz="2600">
              <a:latin typeface="Cambria"/>
              <a:cs typeface="Cambria"/>
            </a:endParaRPr>
          </a:p>
          <a:p>
            <a:pPr marL="336550">
              <a:lnSpc>
                <a:spcPts val="2940"/>
              </a:lnSpc>
            </a:pPr>
            <a:r>
              <a:rPr sz="2550" dirty="0">
                <a:latin typeface="Cambria"/>
                <a:cs typeface="Cambria"/>
              </a:rPr>
              <a:t>on</a:t>
            </a:r>
            <a:r>
              <a:rPr sz="2550" spc="-110" dirty="0">
                <a:latin typeface="Cambria"/>
                <a:cs typeface="Cambria"/>
              </a:rPr>
              <a:t> </a:t>
            </a:r>
            <a:r>
              <a:rPr sz="2550" spc="-65" dirty="0">
                <a:latin typeface="Cambria"/>
                <a:cs typeface="Cambria"/>
              </a:rPr>
              <a:t>standard</a:t>
            </a:r>
            <a:r>
              <a:rPr sz="2550" spc="90" dirty="0">
                <a:latin typeface="Cambria"/>
                <a:cs typeface="Cambria"/>
              </a:rPr>
              <a:t> </a:t>
            </a:r>
            <a:r>
              <a:rPr sz="2550" spc="-105" dirty="0">
                <a:latin typeface="Cambria"/>
                <a:cs typeface="Cambria"/>
              </a:rPr>
              <a:t>government/news</a:t>
            </a:r>
            <a:r>
              <a:rPr sz="2550" spc="-100" dirty="0">
                <a:latin typeface="Cambria"/>
                <a:cs typeface="Cambria"/>
              </a:rPr>
              <a:t> </a:t>
            </a:r>
            <a:r>
              <a:rPr sz="2550" spc="-20" dirty="0">
                <a:latin typeface="Cambria"/>
                <a:cs typeface="Cambria"/>
              </a:rPr>
              <a:t>text</a:t>
            </a:r>
            <a:endParaRPr sz="25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550">
              <a:latin typeface="Cambria"/>
              <a:cs typeface="Cambria"/>
            </a:endParaRPr>
          </a:p>
          <a:p>
            <a:pPr marL="358140">
              <a:lnSpc>
                <a:spcPct val="100000"/>
              </a:lnSpc>
            </a:pPr>
            <a:r>
              <a:rPr sz="2550" spc="-150" dirty="0">
                <a:solidFill>
                  <a:srgbClr val="975642"/>
                </a:solidFill>
                <a:latin typeface="Courier New"/>
                <a:cs typeface="Courier New"/>
              </a:rPr>
              <a:t>Limitation:</a:t>
            </a:r>
            <a:r>
              <a:rPr sz="2550" spc="-220" dirty="0">
                <a:solidFill>
                  <a:srgbClr val="975642"/>
                </a:solidFill>
                <a:latin typeface="Courier New"/>
                <a:cs typeface="Courier New"/>
              </a:rPr>
              <a:t> </a:t>
            </a:r>
            <a:r>
              <a:rPr sz="2550" spc="-70" dirty="0">
                <a:solidFill>
                  <a:srgbClr val="A57B6B"/>
                </a:solidFill>
                <a:latin typeface="Courier New"/>
                <a:cs typeface="Courier New"/>
              </a:rPr>
              <a:t>Reduced</a:t>
            </a:r>
            <a:endParaRPr sz="2550">
              <a:latin typeface="Courier New"/>
              <a:cs typeface="Courier New"/>
            </a:endParaRPr>
          </a:p>
          <a:p>
            <a:pPr marL="344170">
              <a:lnSpc>
                <a:spcPct val="100000"/>
              </a:lnSpc>
              <a:spcBef>
                <a:spcPts val="90"/>
              </a:spcBef>
            </a:pPr>
            <a:r>
              <a:rPr sz="2400" spc="-150" dirty="0">
                <a:solidFill>
                  <a:srgbClr val="835D4B"/>
                </a:solidFill>
                <a:latin typeface="Courier New"/>
                <a:cs typeface="Courier New"/>
              </a:rPr>
              <a:t>accuracy</a:t>
            </a:r>
            <a:r>
              <a:rPr sz="2400" spc="-175" dirty="0">
                <a:solidFill>
                  <a:srgbClr val="835D4B"/>
                </a:solidFill>
                <a:latin typeface="Courier New"/>
                <a:cs typeface="Courier New"/>
              </a:rPr>
              <a:t> </a:t>
            </a:r>
            <a:r>
              <a:rPr sz="2400" spc="-90" dirty="0">
                <a:solidFill>
                  <a:srgbClr val="9A7764"/>
                </a:solidFill>
                <a:latin typeface="Courier New"/>
                <a:cs typeface="Courier New"/>
              </a:rPr>
              <a:t>for</a:t>
            </a:r>
            <a:r>
              <a:rPr sz="2400" spc="-270" dirty="0">
                <a:solidFill>
                  <a:srgbClr val="9A7764"/>
                </a:solidFill>
                <a:latin typeface="Courier New"/>
                <a:cs typeface="Courier New"/>
              </a:rPr>
              <a:t> </a:t>
            </a:r>
            <a:r>
              <a:rPr sz="2400" spc="-105" dirty="0">
                <a:solidFill>
                  <a:srgbClr val="A17564"/>
                </a:solidFill>
                <a:latin typeface="Courier New"/>
                <a:cs typeface="Courier New"/>
              </a:rPr>
              <a:t>colloqulalisms.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54366" y="4840816"/>
            <a:ext cx="4974590" cy="3596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130"/>
              </a:spcBef>
            </a:pPr>
            <a:r>
              <a:rPr sz="3300" dirty="0">
                <a:solidFill>
                  <a:srgbClr val="262626"/>
                </a:solidFill>
                <a:latin typeface="Arial MT"/>
                <a:cs typeface="Arial MT"/>
              </a:rPr>
              <a:t>Deployment</a:t>
            </a:r>
            <a:r>
              <a:rPr sz="3300" spc="3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3300" spc="50" dirty="0">
                <a:solidFill>
                  <a:srgbClr val="232323"/>
                </a:solidFill>
                <a:latin typeface="Arial MT"/>
                <a:cs typeface="Arial MT"/>
              </a:rPr>
              <a:t>Safety</a:t>
            </a:r>
            <a:endParaRPr sz="3300">
              <a:latin typeface="Arial MT"/>
              <a:cs typeface="Arial MT"/>
            </a:endParaRPr>
          </a:p>
          <a:p>
            <a:pPr marL="309245" marR="190500" indent="4445">
              <a:lnSpc>
                <a:spcPct val="96400"/>
              </a:lnSpc>
              <a:spcBef>
                <a:spcPts val="2955"/>
              </a:spcBef>
            </a:pPr>
            <a:r>
              <a:rPr sz="2600" spc="-85" dirty="0">
                <a:latin typeface="Cambria"/>
                <a:cs typeface="Cambria"/>
              </a:rPr>
              <a:t>Privacy</a:t>
            </a:r>
            <a:r>
              <a:rPr sz="2600" spc="-60" dirty="0">
                <a:latin typeface="Cambria"/>
                <a:cs typeface="Cambria"/>
              </a:rPr>
              <a:t> </a:t>
            </a:r>
            <a:r>
              <a:rPr sz="2600" spc="-30" dirty="0">
                <a:latin typeface="Cambria"/>
                <a:cs typeface="Cambria"/>
              </a:rPr>
              <a:t>First.</a:t>
            </a:r>
            <a:r>
              <a:rPr sz="2600" spc="-114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The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spc="-105" dirty="0">
                <a:latin typeface="Cambria"/>
                <a:cs typeface="Cambria"/>
              </a:rPr>
              <a:t>system</a:t>
            </a:r>
            <a:r>
              <a:rPr sz="2600" spc="-40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uses </a:t>
            </a:r>
            <a:r>
              <a:rPr sz="2500" dirty="0">
                <a:latin typeface="Cambria"/>
                <a:cs typeface="Cambria"/>
              </a:rPr>
              <a:t>local</a:t>
            </a:r>
            <a:r>
              <a:rPr sz="2500" spc="-140" dirty="0">
                <a:latin typeface="Cambria"/>
                <a:cs typeface="Cambria"/>
              </a:rPr>
              <a:t> </a:t>
            </a:r>
            <a:r>
              <a:rPr sz="2500" spc="-40" dirty="0">
                <a:latin typeface="Cambria"/>
                <a:cs typeface="Cambria"/>
              </a:rPr>
              <a:t>inrerence</a:t>
            </a:r>
            <a:r>
              <a:rPr sz="2500" spc="9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logic,</a:t>
            </a:r>
            <a:r>
              <a:rPr sz="2500" spc="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ensuring</a:t>
            </a:r>
            <a:r>
              <a:rPr sz="2500" spc="45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no </a:t>
            </a:r>
            <a:r>
              <a:rPr sz="2600" spc="-70" dirty="0">
                <a:latin typeface="Cambria"/>
                <a:cs typeface="Cambria"/>
              </a:rPr>
              <a:t>user</a:t>
            </a:r>
            <a:r>
              <a:rPr sz="2600" spc="-75" dirty="0">
                <a:latin typeface="Cambria"/>
                <a:cs typeface="Cambria"/>
              </a:rPr>
              <a:t> </a:t>
            </a:r>
            <a:r>
              <a:rPr sz="2600" spc="-100" dirty="0">
                <a:latin typeface="Cambria"/>
                <a:cs typeface="Cambria"/>
              </a:rPr>
              <a:t>data</a:t>
            </a:r>
            <a:r>
              <a:rPr sz="2600" spc="-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is</a:t>
            </a:r>
            <a:r>
              <a:rPr sz="2600" spc="-145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logged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spc="-70" dirty="0">
                <a:latin typeface="Cambria"/>
                <a:cs typeface="Cambria"/>
              </a:rPr>
              <a:t>to</a:t>
            </a:r>
            <a:r>
              <a:rPr sz="2600" spc="-105" dirty="0">
                <a:latin typeface="Cambria"/>
                <a:cs typeface="Cambria"/>
              </a:rPr>
              <a:t> </a:t>
            </a:r>
            <a:r>
              <a:rPr sz="2600" spc="-60" dirty="0">
                <a:latin typeface="Cambria"/>
                <a:cs typeface="Cambria"/>
              </a:rPr>
              <a:t>the</a:t>
            </a:r>
            <a:r>
              <a:rPr sz="2600" spc="1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cloud.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600">
              <a:latin typeface="Cambria"/>
              <a:cs typeface="Cambria"/>
            </a:endParaRPr>
          </a:p>
          <a:p>
            <a:pPr marL="304800">
              <a:lnSpc>
                <a:spcPct val="100000"/>
              </a:lnSpc>
              <a:spcBef>
                <a:spcPts val="5"/>
              </a:spcBef>
            </a:pPr>
            <a:r>
              <a:rPr sz="2550" spc="-140" dirty="0">
                <a:solidFill>
                  <a:srgbClr val="A0705E"/>
                </a:solidFill>
                <a:latin typeface="Courier New"/>
                <a:cs typeface="Courier New"/>
              </a:rPr>
              <a:t>Standard:</a:t>
            </a:r>
            <a:r>
              <a:rPr sz="2550" spc="-170" dirty="0">
                <a:solidFill>
                  <a:srgbClr val="A0705E"/>
                </a:solidFill>
                <a:latin typeface="Courier New"/>
                <a:cs typeface="Courier New"/>
              </a:rPr>
              <a:t> </a:t>
            </a:r>
            <a:r>
              <a:rPr sz="2550" spc="-150" dirty="0">
                <a:solidFill>
                  <a:srgbClr val="854D3D"/>
                </a:solidFill>
                <a:latin typeface="Courier New"/>
                <a:cs typeface="Courier New"/>
              </a:rPr>
              <a:t>GDPR</a:t>
            </a:r>
            <a:r>
              <a:rPr sz="2550" spc="-229" dirty="0">
                <a:solidFill>
                  <a:srgbClr val="854D3D"/>
                </a:solidFill>
                <a:latin typeface="Courier New"/>
                <a:cs typeface="Courier New"/>
              </a:rPr>
              <a:t> </a:t>
            </a:r>
            <a:r>
              <a:rPr sz="2550" spc="-65" dirty="0">
                <a:solidFill>
                  <a:srgbClr val="A78370"/>
                </a:solidFill>
                <a:latin typeface="Courier New"/>
                <a:cs typeface="Courier New"/>
              </a:rPr>
              <a:t>Compliance</a:t>
            </a:r>
            <a:endParaRPr sz="2550">
              <a:latin typeface="Courier New"/>
              <a:cs typeface="Courier New"/>
            </a:endParaRPr>
          </a:p>
          <a:p>
            <a:pPr marL="321310">
              <a:lnSpc>
                <a:spcPct val="100000"/>
              </a:lnSpc>
              <a:spcBef>
                <a:spcPts val="90"/>
              </a:spcBef>
            </a:pPr>
            <a:r>
              <a:rPr sz="2400" spc="-10" dirty="0">
                <a:solidFill>
                  <a:srgbClr val="9C7769"/>
                </a:solidFill>
                <a:latin typeface="Courier New"/>
                <a:cs typeface="Courier New"/>
              </a:rPr>
              <a:t>ready.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8500" y="2933700"/>
            <a:ext cx="13538200" cy="25273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25021" y="605719"/>
            <a:ext cx="414401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-75" dirty="0">
                <a:solidFill>
                  <a:srgbClr val="181818"/>
                </a:solidFill>
                <a:latin typeface="Arial MT"/>
                <a:cs typeface="Arial MT"/>
              </a:rPr>
              <a:t>Engineering</a:t>
            </a:r>
            <a:r>
              <a:rPr sz="3650" spc="-7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650" spc="-35" dirty="0">
                <a:solidFill>
                  <a:srgbClr val="1F1F1F"/>
                </a:solidFill>
                <a:latin typeface="Arial MT"/>
                <a:cs typeface="Arial MT"/>
              </a:rPr>
              <a:t>Editorial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20264" y="1143352"/>
            <a:ext cx="1089787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600" spc="-80" dirty="0">
                <a:solidFill>
                  <a:srgbClr val="282828"/>
                </a:solidFill>
                <a:latin typeface="Arial MT"/>
                <a:cs typeface="Arial MT"/>
              </a:rPr>
              <a:t>Conclusion</a:t>
            </a:r>
            <a:r>
              <a:rPr sz="6600" spc="-28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6600" spc="-265" dirty="0">
                <a:solidFill>
                  <a:srgbClr val="343434"/>
                </a:solidFill>
                <a:latin typeface="Arial MT"/>
                <a:cs typeface="Arial MT"/>
              </a:rPr>
              <a:t>&amp;</a:t>
            </a:r>
            <a:r>
              <a:rPr sz="6600" spc="-73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6600" spc="-130" dirty="0">
                <a:solidFill>
                  <a:srgbClr val="2A2A2A"/>
                </a:solidFill>
                <a:latin typeface="Arial MT"/>
                <a:cs typeface="Arial MT"/>
              </a:rPr>
              <a:t>Future</a:t>
            </a:r>
            <a:r>
              <a:rPr sz="6600" spc="-33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6600" spc="-345" dirty="0">
                <a:solidFill>
                  <a:srgbClr val="2A2A2A"/>
                </a:solidFill>
                <a:latin typeface="Arial MT"/>
                <a:cs typeface="Arial MT"/>
              </a:rPr>
              <a:t>Roadmap</a:t>
            </a:r>
            <a:endParaRPr sz="6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0902" y="5550605"/>
            <a:ext cx="3703954" cy="1707514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581025">
              <a:lnSpc>
                <a:spcPct val="100000"/>
              </a:lnSpc>
              <a:spcBef>
                <a:spcPts val="845"/>
              </a:spcBef>
            </a:pPr>
            <a:r>
              <a:rPr sz="3300" dirty="0">
                <a:solidFill>
                  <a:srgbClr val="181818"/>
                </a:solidFill>
                <a:latin typeface="Calibri"/>
                <a:cs typeface="Calibri"/>
              </a:rPr>
              <a:t>Current</a:t>
            </a:r>
            <a:r>
              <a:rPr sz="3300" spc="10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1D1D1D"/>
                </a:solidFill>
                <a:latin typeface="Calibri"/>
                <a:cs typeface="Calibri"/>
              </a:rPr>
              <a:t>State</a:t>
            </a:r>
            <a:endParaRPr sz="3300">
              <a:latin typeface="Calibri"/>
              <a:cs typeface="Calibri"/>
            </a:endParaRPr>
          </a:p>
          <a:p>
            <a:pPr marL="258445" indent="-245745">
              <a:lnSpc>
                <a:spcPts val="2750"/>
              </a:lnSpc>
              <a:spcBef>
                <a:spcPts val="540"/>
              </a:spcBef>
              <a:buChar char="•"/>
              <a:tabLst>
                <a:tab pos="258445" algn="l"/>
              </a:tabLst>
            </a:pPr>
            <a:r>
              <a:rPr sz="2500" spc="-215" dirty="0">
                <a:latin typeface="Arial MT"/>
                <a:cs typeface="Arial MT"/>
              </a:rPr>
              <a:t>Hybrid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spc="-210" dirty="0">
                <a:latin typeface="Arial MT"/>
                <a:cs typeface="Arial MT"/>
              </a:rPr>
              <a:t>Pipeline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Active</a:t>
            </a:r>
            <a:endParaRPr sz="2500">
              <a:latin typeface="Arial MT"/>
              <a:cs typeface="Arial MT"/>
            </a:endParaRPr>
          </a:p>
          <a:p>
            <a:pPr marL="257810" indent="-245110">
              <a:lnSpc>
                <a:spcPts val="2500"/>
              </a:lnSpc>
              <a:buChar char="•"/>
              <a:tabLst>
                <a:tab pos="257810" algn="l"/>
              </a:tabLst>
            </a:pPr>
            <a:r>
              <a:rPr sz="2500" spc="-285" dirty="0">
                <a:latin typeface="Arial MT"/>
                <a:cs typeface="Arial MT"/>
              </a:rPr>
              <a:t>chrF++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spc="-270" dirty="0">
                <a:latin typeface="Arial MT"/>
                <a:cs typeface="Arial MT"/>
              </a:rPr>
              <a:t>Score: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47.43</a:t>
            </a:r>
            <a:endParaRPr sz="2500">
              <a:latin typeface="Arial MT"/>
              <a:cs typeface="Arial MT"/>
            </a:endParaRPr>
          </a:p>
          <a:p>
            <a:pPr marL="258445" indent="-245745">
              <a:lnSpc>
                <a:spcPts val="2750"/>
              </a:lnSpc>
              <a:buChar char="•"/>
              <a:tabLst>
                <a:tab pos="258445" algn="l"/>
              </a:tabLst>
            </a:pPr>
            <a:r>
              <a:rPr sz="2500" spc="-295" dirty="0">
                <a:latin typeface="Arial MT"/>
                <a:cs typeface="Arial MT"/>
              </a:rPr>
              <a:t>Robust</a:t>
            </a:r>
            <a:r>
              <a:rPr sz="2500" spc="150" dirty="0">
                <a:latin typeface="Arial MT"/>
                <a:cs typeface="Arial MT"/>
              </a:rPr>
              <a:t> </a:t>
            </a:r>
            <a:r>
              <a:rPr sz="2500" spc="-275" dirty="0">
                <a:latin typeface="Arial MT"/>
                <a:cs typeface="Arial MT"/>
              </a:rPr>
              <a:t>Devanagari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spc="-275" dirty="0">
                <a:latin typeface="Arial MT"/>
                <a:cs typeface="Arial MT"/>
              </a:rPr>
              <a:t>Rendering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6342" y="5503910"/>
            <a:ext cx="3219450" cy="143319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822325">
              <a:lnSpc>
                <a:spcPct val="100000"/>
              </a:lnSpc>
              <a:spcBef>
                <a:spcPts val="1210"/>
              </a:spcBef>
            </a:pPr>
            <a:r>
              <a:rPr sz="3300" spc="-100" dirty="0">
                <a:solidFill>
                  <a:srgbClr val="1C1C1C"/>
                </a:solidFill>
                <a:latin typeface="Arial MT"/>
                <a:cs typeface="Arial MT"/>
              </a:rPr>
              <a:t>Short</a:t>
            </a:r>
            <a:r>
              <a:rPr sz="3300" spc="-12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3300" spc="-290" dirty="0">
                <a:solidFill>
                  <a:srgbClr val="1A1A1A"/>
                </a:solidFill>
                <a:latin typeface="Arial MT"/>
                <a:cs typeface="Arial MT"/>
              </a:rPr>
              <a:t>Term</a:t>
            </a:r>
            <a:endParaRPr sz="3300">
              <a:latin typeface="Arial MT"/>
              <a:cs typeface="Arial MT"/>
            </a:endParaRPr>
          </a:p>
          <a:p>
            <a:pPr marL="443865" indent="-431165">
              <a:lnSpc>
                <a:spcPts val="2605"/>
              </a:lnSpc>
              <a:spcBef>
                <a:spcPts val="740"/>
              </a:spcBef>
              <a:buChar char="•"/>
              <a:tabLst>
                <a:tab pos="443865" algn="l"/>
              </a:tabLst>
            </a:pPr>
            <a:r>
              <a:rPr sz="2300" spc="-260" dirty="0">
                <a:latin typeface="Arial MT"/>
                <a:cs typeface="Arial MT"/>
              </a:rPr>
              <a:t>Web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Interface </a:t>
            </a:r>
            <a:r>
              <a:rPr sz="2300" spc="-25" dirty="0">
                <a:latin typeface="Arial MT"/>
                <a:cs typeface="Arial MT"/>
              </a:rPr>
              <a:t>(Gradio)</a:t>
            </a:r>
            <a:endParaRPr sz="2300">
              <a:latin typeface="Arial MT"/>
              <a:cs typeface="Arial MT"/>
            </a:endParaRPr>
          </a:p>
          <a:p>
            <a:pPr marL="330200" indent="-317500">
              <a:lnSpc>
                <a:spcPts val="2665"/>
              </a:lnSpc>
              <a:buChar char="•"/>
              <a:tabLst>
                <a:tab pos="330200" algn="l"/>
              </a:tabLst>
            </a:pPr>
            <a:r>
              <a:rPr sz="2350" spc="-135" dirty="0">
                <a:latin typeface="Arial MT"/>
                <a:cs typeface="Arial MT"/>
              </a:rPr>
              <a:t>INT8</a:t>
            </a:r>
            <a:r>
              <a:rPr sz="2350" spc="-55" dirty="0">
                <a:latin typeface="Arial MT"/>
                <a:cs typeface="Arial MT"/>
              </a:rPr>
              <a:t> </a:t>
            </a:r>
            <a:r>
              <a:rPr sz="2350" spc="-170" dirty="0">
                <a:latin typeface="Arial MT"/>
                <a:cs typeface="Arial MT"/>
              </a:rPr>
              <a:t>Ciuantization</a:t>
            </a:r>
            <a:r>
              <a:rPr sz="2350" spc="140" dirty="0">
                <a:latin typeface="Arial MT"/>
                <a:cs typeface="Arial MT"/>
              </a:rPr>
              <a:t> </a:t>
            </a:r>
            <a:r>
              <a:rPr sz="2350" spc="-195" dirty="0">
                <a:latin typeface="Arial MT"/>
                <a:cs typeface="Arial MT"/>
              </a:rPr>
              <a:t>(Edge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53236" y="6878108"/>
            <a:ext cx="154305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85" dirty="0">
                <a:latin typeface="Arial MT"/>
                <a:cs typeface="Arial MT"/>
              </a:rPr>
              <a:t>optimization)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7280" y="7191727"/>
            <a:ext cx="3283585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60350" indent="-247650">
              <a:lnSpc>
                <a:spcPct val="100000"/>
              </a:lnSpc>
              <a:spcBef>
                <a:spcPts val="120"/>
              </a:spcBef>
              <a:buChar char="•"/>
              <a:tabLst>
                <a:tab pos="260350" algn="l"/>
              </a:tabLst>
            </a:pPr>
            <a:r>
              <a:rPr sz="2200" spc="-60" dirty="0">
                <a:latin typeface="Arial MT"/>
                <a:cs typeface="Arial MT"/>
              </a:rPr>
              <a:t>Mobile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30" dirty="0">
                <a:latin typeface="Arial MT"/>
                <a:cs typeface="Arial MT"/>
              </a:rPr>
              <a:t>App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-135" dirty="0">
                <a:latin typeface="Arial MT"/>
                <a:cs typeface="Arial MT"/>
              </a:rPr>
              <a:t>(React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Native)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94204" y="5527392"/>
            <a:ext cx="3302635" cy="203200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925"/>
              </a:spcBef>
            </a:pPr>
            <a:r>
              <a:rPr sz="3400" spc="-185" dirty="0">
                <a:solidFill>
                  <a:srgbClr val="181818"/>
                </a:solidFill>
                <a:latin typeface="Arial MT"/>
                <a:cs typeface="Arial MT"/>
              </a:rPr>
              <a:t>Future</a:t>
            </a:r>
            <a:r>
              <a:rPr sz="3400" spc="-3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3400" spc="-35" dirty="0">
                <a:solidFill>
                  <a:srgbClr val="1A1A1A"/>
                </a:solidFill>
                <a:latin typeface="Arial MT"/>
                <a:cs typeface="Arial MT"/>
              </a:rPr>
              <a:t>Vision</a:t>
            </a:r>
            <a:endParaRPr sz="3400">
              <a:latin typeface="Arial MT"/>
              <a:cs typeface="Arial MT"/>
            </a:endParaRPr>
          </a:p>
          <a:p>
            <a:pPr marL="256540" indent="-243840">
              <a:lnSpc>
                <a:spcPts val="2640"/>
              </a:lnSpc>
              <a:spcBef>
                <a:spcPts val="620"/>
              </a:spcBef>
              <a:buChar char="•"/>
              <a:tabLst>
                <a:tab pos="256540" algn="l"/>
              </a:tabLst>
            </a:pPr>
            <a:r>
              <a:rPr sz="2400" spc="-204" dirty="0">
                <a:latin typeface="Arial MT"/>
                <a:cs typeface="Arial MT"/>
              </a:rPr>
              <a:t>Speech-</a:t>
            </a:r>
            <a:r>
              <a:rPr sz="2400" spc="-145" dirty="0">
                <a:latin typeface="Arial MT"/>
                <a:cs typeface="Arial MT"/>
              </a:rPr>
              <a:t>to-</a:t>
            </a:r>
            <a:r>
              <a:rPr sz="2400" spc="-215" dirty="0">
                <a:latin typeface="Arial MT"/>
                <a:cs typeface="Arial MT"/>
              </a:rPr>
              <a:t>Speech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380" dirty="0">
                <a:latin typeface="Arial MT"/>
                <a:cs typeface="Arial MT"/>
              </a:rPr>
              <a:t>(ASR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+</a:t>
            </a:r>
            <a:endParaRPr sz="2400">
              <a:latin typeface="Arial MT"/>
              <a:cs typeface="Arial MT"/>
            </a:endParaRPr>
          </a:p>
          <a:p>
            <a:pPr marL="250190">
              <a:lnSpc>
                <a:spcPts val="2510"/>
              </a:lnSpc>
            </a:pPr>
            <a:r>
              <a:rPr sz="2500" spc="-390" dirty="0">
                <a:latin typeface="Arial MT"/>
                <a:cs typeface="Arial MT"/>
              </a:rPr>
              <a:t>TTS)</a:t>
            </a:r>
            <a:endParaRPr sz="2500">
              <a:latin typeface="Arial MT"/>
              <a:cs typeface="Arial MT"/>
            </a:endParaRPr>
          </a:p>
          <a:p>
            <a:pPr marL="259715" indent="-247015">
              <a:lnSpc>
                <a:spcPts val="2525"/>
              </a:lnSpc>
              <a:buChar char="•"/>
              <a:tabLst>
                <a:tab pos="259715" algn="l"/>
              </a:tabLst>
            </a:pPr>
            <a:r>
              <a:rPr sz="2500" spc="-175" dirty="0">
                <a:latin typeface="Arial MT"/>
                <a:cs typeface="Arial MT"/>
              </a:rPr>
              <a:t>Bidirectionai</a:t>
            </a:r>
            <a:r>
              <a:rPr sz="2500" spc="80" dirty="0">
                <a:latin typeface="Arial MT"/>
                <a:cs typeface="Arial MT"/>
              </a:rPr>
              <a:t> </a:t>
            </a:r>
            <a:r>
              <a:rPr sz="2500" spc="-95" dirty="0">
                <a:latin typeface="Arial MT"/>
                <a:cs typeface="Arial MT"/>
              </a:rPr>
              <a:t>Support</a:t>
            </a:r>
            <a:endParaRPr sz="2500">
              <a:latin typeface="Arial MT"/>
              <a:cs typeface="Arial MT"/>
            </a:endParaRPr>
          </a:p>
          <a:p>
            <a:pPr marL="252729">
              <a:lnSpc>
                <a:spcPts val="2595"/>
              </a:lnSpc>
            </a:pPr>
            <a:r>
              <a:rPr sz="2350" spc="-130" dirty="0">
                <a:latin typeface="Arial MT"/>
                <a:cs typeface="Arial MT"/>
              </a:rPr>
              <a:t>(Hindi</a:t>
            </a:r>
            <a:r>
              <a:rPr sz="2350" dirty="0">
                <a:latin typeface="Arial MT"/>
                <a:cs typeface="Arial MT"/>
              </a:rPr>
              <a:t> </a:t>
            </a:r>
            <a:r>
              <a:rPr sz="2350" spc="-90" dirty="0">
                <a:latin typeface="Arial MT"/>
                <a:cs typeface="Arial MT"/>
              </a:rPr>
              <a:t>-</a:t>
            </a:r>
            <a:r>
              <a:rPr sz="2350" spc="-145" dirty="0">
                <a:latin typeface="Arial MT"/>
                <a:cs typeface="Arial MT"/>
              </a:rPr>
              <a:t>&gt;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spc="-70" dirty="0">
                <a:latin typeface="Arial MT"/>
                <a:cs typeface="Arial MT"/>
              </a:rPr>
              <a:t>English)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82633" y="7974188"/>
            <a:ext cx="10467975" cy="144589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772160" marR="5080" indent="-760095">
              <a:lnSpc>
                <a:spcPts val="5350"/>
              </a:lnSpc>
              <a:spcBef>
                <a:spcPts val="680"/>
              </a:spcBef>
            </a:pPr>
            <a:r>
              <a:rPr sz="4850" spc="-10" dirty="0">
                <a:latin typeface="Cambria"/>
                <a:cs typeface="Cambria"/>
              </a:rPr>
              <a:t>Moving</a:t>
            </a:r>
            <a:r>
              <a:rPr sz="4850" spc="-220" dirty="0">
                <a:latin typeface="Cambria"/>
                <a:cs typeface="Cambria"/>
              </a:rPr>
              <a:t> </a:t>
            </a:r>
            <a:r>
              <a:rPr sz="4850" spc="-80" dirty="0">
                <a:latin typeface="Cambria"/>
                <a:cs typeface="Cambria"/>
              </a:rPr>
              <a:t>beyond</a:t>
            </a:r>
            <a:r>
              <a:rPr sz="4850" spc="-165" dirty="0">
                <a:latin typeface="Cambria"/>
                <a:cs typeface="Cambria"/>
              </a:rPr>
              <a:t> </a:t>
            </a:r>
            <a:r>
              <a:rPr sz="4850" spc="-70" dirty="0">
                <a:latin typeface="Cambria"/>
                <a:cs typeface="Cambria"/>
              </a:rPr>
              <a:t>translation</a:t>
            </a:r>
            <a:r>
              <a:rPr sz="4850" spc="-25" dirty="0">
                <a:latin typeface="Cambria"/>
                <a:cs typeface="Cambria"/>
              </a:rPr>
              <a:t> </a:t>
            </a:r>
            <a:r>
              <a:rPr sz="4850" spc="-30" dirty="0">
                <a:latin typeface="Cambria"/>
                <a:cs typeface="Cambria"/>
              </a:rPr>
              <a:t>to</a:t>
            </a:r>
            <a:r>
              <a:rPr sz="4850" spc="-240" dirty="0">
                <a:latin typeface="Cambria"/>
                <a:cs typeface="Cambria"/>
              </a:rPr>
              <a:t> </a:t>
            </a:r>
            <a:r>
              <a:rPr sz="4850" spc="-65" dirty="0">
                <a:latin typeface="Cambria"/>
                <a:cs typeface="Cambria"/>
              </a:rPr>
              <a:t>true</a:t>
            </a:r>
            <a:r>
              <a:rPr sz="4850" spc="-200" dirty="0">
                <a:latin typeface="Cambria"/>
                <a:cs typeface="Cambria"/>
              </a:rPr>
              <a:t> </a:t>
            </a:r>
            <a:r>
              <a:rPr sz="4850" spc="-45" dirty="0">
                <a:latin typeface="Cambria"/>
                <a:cs typeface="Cambria"/>
              </a:rPr>
              <a:t>digital </a:t>
            </a:r>
            <a:r>
              <a:rPr sz="4850" spc="-10" dirty="0">
                <a:latin typeface="Cambria"/>
                <a:cs typeface="Cambria"/>
              </a:rPr>
              <a:t>inclusion</a:t>
            </a:r>
            <a:r>
              <a:rPr sz="4850" spc="-190" dirty="0">
                <a:latin typeface="Cambria"/>
                <a:cs typeface="Cambria"/>
              </a:rPr>
              <a:t> </a:t>
            </a:r>
            <a:r>
              <a:rPr sz="4850" dirty="0">
                <a:latin typeface="Cambria"/>
                <a:cs typeface="Cambria"/>
              </a:rPr>
              <a:t>for</a:t>
            </a:r>
            <a:r>
              <a:rPr sz="4850" spc="-250" dirty="0">
                <a:latin typeface="Cambria"/>
                <a:cs typeface="Cambria"/>
              </a:rPr>
              <a:t> </a:t>
            </a:r>
            <a:r>
              <a:rPr sz="4850" spc="-10" dirty="0">
                <a:latin typeface="Cambria"/>
                <a:cs typeface="Cambria"/>
              </a:rPr>
              <a:t>the</a:t>
            </a:r>
            <a:r>
              <a:rPr sz="4850" spc="-250" dirty="0">
                <a:latin typeface="Cambria"/>
                <a:cs typeface="Cambria"/>
              </a:rPr>
              <a:t> </a:t>
            </a:r>
            <a:r>
              <a:rPr sz="4850" dirty="0">
                <a:latin typeface="Cambria"/>
                <a:cs typeface="Cambria"/>
              </a:rPr>
              <a:t>next</a:t>
            </a:r>
            <a:r>
              <a:rPr sz="4850" spc="-165" dirty="0">
                <a:latin typeface="Cambria"/>
                <a:cs typeface="Cambria"/>
              </a:rPr>
              <a:t> </a:t>
            </a:r>
            <a:r>
              <a:rPr sz="4850" dirty="0">
                <a:latin typeface="Cambria"/>
                <a:cs typeface="Cambria"/>
              </a:rPr>
              <a:t>billion</a:t>
            </a:r>
            <a:r>
              <a:rPr sz="4850" spc="-210" dirty="0">
                <a:latin typeface="Cambria"/>
                <a:cs typeface="Cambria"/>
              </a:rPr>
              <a:t> </a:t>
            </a:r>
            <a:r>
              <a:rPr sz="4850" spc="-10" dirty="0">
                <a:latin typeface="Cambria"/>
                <a:cs typeface="Cambria"/>
              </a:rPr>
              <a:t>users.</a:t>
            </a:r>
            <a:endParaRPr sz="4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755</Words>
  <Application>Microsoft Office PowerPoint</Application>
  <PresentationFormat>Custom</PresentationFormat>
  <Paragraphs>143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MT</vt:lpstr>
      <vt:lpstr>Calibri</vt:lpstr>
      <vt:lpstr>Cambria</vt:lpstr>
      <vt:lpstr>Consolas</vt:lpstr>
      <vt:lpstr>Courier New</vt:lpstr>
      <vt:lpstr>Times New Roman</vt:lpstr>
      <vt:lpstr>Office Theme</vt:lpstr>
      <vt:lpstr>RO3ECTATAGLANCE</vt:lpstr>
      <vt:lpstr>The Challenge: India's Digital Divide</vt:lpstr>
      <vt:lpstr>Data Engineering: The IITB Corpus &amp; Preprocessing</vt:lpstr>
      <vt:lpstr>System Architecture: The Intelligent Pipeline</vt:lpstr>
      <vt:lpstr>Deep Dive I: Grammar Correction(T5)</vt:lpstr>
      <vt:lpstr>Neural Machine Translation (NLLB)</vt:lpstr>
      <vt:lpstr>Core Implementation: The Translation Logic</vt:lpstr>
      <vt:lpstr>Evaluation &amp; Analysis: Metrics that Matter</vt:lpstr>
      <vt:lpstr>Responsible AI: Ethics &amp; Bias</vt:lpstr>
      <vt:lpstr>Conclusion &amp; Future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Vijay Kalaskar</cp:lastModifiedBy>
  <cp:revision>1</cp:revision>
  <dcterms:created xsi:type="dcterms:W3CDTF">2026-01-17T17:06:38Z</dcterms:created>
  <dcterms:modified xsi:type="dcterms:W3CDTF">2026-01-17T17:19:51Z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2026-01-17T00:00:00Z</vt:filetime>
  </property>
  <property fmtid="{D5CDD505-2E9C-101B-9397-08002B2CF9AE}" pid="3" name="LastSaved">
    <vt:filetime>2026-01-17T00:00:00Z</vt:filetime>
  </property>
</Properties>
</file>